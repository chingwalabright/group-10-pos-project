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20"/>
  </p:notesMasterIdLst>
  <p:sldIdLst>
    <p:sldId id="269" r:id="rId2"/>
    <p:sldId id="258" r:id="rId3"/>
    <p:sldId id="259" r:id="rId4"/>
    <p:sldId id="260" r:id="rId5"/>
    <p:sldId id="264" r:id="rId6"/>
    <p:sldId id="261" r:id="rId7"/>
    <p:sldId id="262" r:id="rId8"/>
    <p:sldId id="265" r:id="rId9"/>
    <p:sldId id="266" r:id="rId10"/>
    <p:sldId id="267" r:id="rId11"/>
    <p:sldId id="268" r:id="rId12"/>
    <p:sldId id="263" r:id="rId13"/>
    <p:sldId id="270" r:id="rId14"/>
    <p:sldId id="271" r:id="rId15"/>
    <p:sldId id="272" r:id="rId16"/>
    <p:sldId id="273" r:id="rId17"/>
    <p:sldId id="274" r:id="rId18"/>
    <p:sldId id="275" r:id="rId1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7764" autoAdjust="0"/>
  </p:normalViewPr>
  <p:slideViewPr>
    <p:cSldViewPr snapToGrid="0" snapToObjects="1">
      <p:cViewPr varScale="1">
        <p:scale>
          <a:sx n="70" d="100"/>
          <a:sy n="70" d="100"/>
        </p:scale>
        <p:origin x="1810" y="4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CC8CDD6-4A3C-4EA6-ACD4-91D26DE43C25}" type="datetimeFigureOut">
              <a:rPr lang="en-GB" smtClean="0"/>
              <a:t>07/09/2026</a:t>
            </a:fld>
            <a:endParaRPr lang="en-GB"/>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4A94A8-6395-47BF-8D37-463AA6B2204C}" type="slidenum">
              <a:rPr lang="en-GB" smtClean="0"/>
              <a:t>‹#›</a:t>
            </a:fld>
            <a:endParaRPr lang="en-GB"/>
          </a:p>
        </p:txBody>
      </p:sp>
    </p:spTree>
    <p:extLst>
      <p:ext uri="{BB962C8B-B14F-4D97-AF65-F5344CB8AC3E}">
        <p14:creationId xmlns:p14="http://schemas.microsoft.com/office/powerpoint/2010/main" val="17492717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Problem Statement</a:t>
            </a:r>
            <a:endParaRPr lang="en-GB" sz="1200" b="1"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Cafés face slow ordering, pricing mistakes, unclear role separation, and difficulty tracking daily sales. The POS system eliminates manual errors, accelerates service, and centralizes operations through a fast, browser-based interface.</a:t>
            </a:r>
            <a:endParaRPr lang="en-GB" sz="1200" kern="1200" dirty="0">
              <a:solidFill>
                <a:schemeClr val="tx1"/>
              </a:solidFill>
              <a:effectLst/>
              <a:latin typeface="+mn-lt"/>
              <a:ea typeface="+mn-ea"/>
              <a:cs typeface="+mn-cs"/>
            </a:endParaRPr>
          </a:p>
          <a:p>
            <a:endParaRPr lang="en-GB" dirty="0"/>
          </a:p>
        </p:txBody>
      </p:sp>
      <p:sp>
        <p:nvSpPr>
          <p:cNvPr id="4" name="Slide Number Placeholder 3"/>
          <p:cNvSpPr>
            <a:spLocks noGrp="1"/>
          </p:cNvSpPr>
          <p:nvPr>
            <p:ph type="sldNum" sz="quarter" idx="10"/>
          </p:nvPr>
        </p:nvSpPr>
        <p:spPr/>
        <p:txBody>
          <a:bodyPr/>
          <a:lstStyle/>
          <a:p>
            <a:fld id="{BC4A94A8-6395-47BF-8D37-463AA6B2204C}" type="slidenum">
              <a:rPr lang="en-GB" smtClean="0"/>
              <a:t>2</a:t>
            </a:fld>
            <a:endParaRPr lang="en-GB"/>
          </a:p>
        </p:txBody>
      </p:sp>
    </p:spTree>
    <p:extLst>
      <p:ext uri="{BB962C8B-B14F-4D97-AF65-F5344CB8AC3E}">
        <p14:creationId xmlns:p14="http://schemas.microsoft.com/office/powerpoint/2010/main" val="2652289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Business Case</a:t>
            </a:r>
            <a:endParaRPr lang="en-GB" sz="1200" b="1"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Stakeholder Benefits:</a:t>
            </a:r>
            <a:endParaRPr lang="en-GB"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Owners: Accurate revenue tracking, reduced fraud.</a:t>
            </a:r>
            <a:endParaRPr lang="en-GB"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Cashiers: Faster workflow, fewer mistakes.</a:t>
            </a:r>
            <a:endParaRPr lang="en-GB"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Customers: Quicker service.</a:t>
            </a:r>
            <a:endParaRPr lang="en-GB"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Business: Reduced training overhead, improved decision making.</a:t>
            </a:r>
            <a:endParaRPr lang="en-GB"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a:t>
            </a:r>
            <a:endParaRPr lang="en-GB"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 system provides strong ROI by speeding up order processing, reducing errors, and improving customer satisfaction.</a:t>
            </a:r>
            <a:endParaRPr lang="en-GB" sz="1200" kern="1200" dirty="0">
              <a:solidFill>
                <a:schemeClr val="tx1"/>
              </a:solidFill>
              <a:effectLst/>
              <a:latin typeface="+mn-lt"/>
              <a:ea typeface="+mn-ea"/>
              <a:cs typeface="+mn-cs"/>
            </a:endParaRPr>
          </a:p>
          <a:p>
            <a:endParaRPr lang="en-GB" dirty="0"/>
          </a:p>
        </p:txBody>
      </p:sp>
      <p:sp>
        <p:nvSpPr>
          <p:cNvPr id="4" name="Slide Number Placeholder 3"/>
          <p:cNvSpPr>
            <a:spLocks noGrp="1"/>
          </p:cNvSpPr>
          <p:nvPr>
            <p:ph type="sldNum" sz="quarter" idx="10"/>
          </p:nvPr>
        </p:nvSpPr>
        <p:spPr/>
        <p:txBody>
          <a:bodyPr/>
          <a:lstStyle/>
          <a:p>
            <a:fld id="{BC4A94A8-6395-47BF-8D37-463AA6B2204C}" type="slidenum">
              <a:rPr lang="en-GB" smtClean="0"/>
              <a:t>3</a:t>
            </a:fld>
            <a:endParaRPr lang="en-GB"/>
          </a:p>
        </p:txBody>
      </p:sp>
    </p:spTree>
    <p:extLst>
      <p:ext uri="{BB962C8B-B14F-4D97-AF65-F5344CB8AC3E}">
        <p14:creationId xmlns:p14="http://schemas.microsoft.com/office/powerpoint/2010/main" val="19541370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Non‑Functional Requirements:</a:t>
            </a:r>
            <a:endParaRPr lang="en-GB"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Touch-friendly UI</a:t>
            </a:r>
            <a:endParaRPr lang="en-GB"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Fast performance</a:t>
            </a:r>
            <a:endParaRPr lang="en-GB"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Offline capability</a:t>
            </a:r>
            <a:endParaRPr lang="en-GB"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Role‑based permissions</a:t>
            </a:r>
            <a:endParaRPr lang="en-GB"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Simple deployment</a:t>
            </a:r>
            <a:endParaRPr lang="en-GB" dirty="0"/>
          </a:p>
        </p:txBody>
      </p:sp>
      <p:sp>
        <p:nvSpPr>
          <p:cNvPr id="4" name="Slide Number Placeholder 3"/>
          <p:cNvSpPr>
            <a:spLocks noGrp="1"/>
          </p:cNvSpPr>
          <p:nvPr>
            <p:ph type="sldNum" sz="quarter" idx="10"/>
          </p:nvPr>
        </p:nvSpPr>
        <p:spPr/>
        <p:txBody>
          <a:bodyPr/>
          <a:lstStyle/>
          <a:p>
            <a:fld id="{BC4A94A8-6395-47BF-8D37-463AA6B2204C}" type="slidenum">
              <a:rPr lang="en-GB" smtClean="0"/>
              <a:t>4</a:t>
            </a:fld>
            <a:endParaRPr lang="en-GB"/>
          </a:p>
        </p:txBody>
      </p:sp>
    </p:spTree>
    <p:extLst>
      <p:ext uri="{BB962C8B-B14F-4D97-AF65-F5344CB8AC3E}">
        <p14:creationId xmlns:p14="http://schemas.microsoft.com/office/powerpoint/2010/main" val="1542434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Example Use Cases (10%)</a:t>
            </a:r>
            <a:endParaRPr lang="en-GB" sz="1200" b="1"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UC1: Create Order – Cashier selects menu items, adjusts quantities, enters customer name, submits order.</a:t>
            </a:r>
            <a:endParaRPr lang="en-GB"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UC2: Adjust Quantity – Cashier increases or decreases item quantities.</a:t>
            </a:r>
            <a:endParaRPr lang="en-GB"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UC3: Approve Pending Order – Manager reviews and approves/rejects.</a:t>
            </a:r>
            <a:endParaRPr lang="en-GB"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UC4: View Daily Summary – Manager views metrics and exports data.</a:t>
            </a:r>
            <a:endParaRPr lang="en-GB"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UC5: Switch Role – User toggles between cashier and manager modes.</a:t>
            </a:r>
            <a:endParaRPr lang="en-GB" sz="1200" kern="1200" dirty="0">
              <a:solidFill>
                <a:schemeClr val="tx1"/>
              </a:solidFill>
              <a:effectLst/>
              <a:latin typeface="+mn-lt"/>
              <a:ea typeface="+mn-ea"/>
              <a:cs typeface="+mn-cs"/>
            </a:endParaRPr>
          </a:p>
          <a:p>
            <a:endParaRPr lang="en-GB" dirty="0"/>
          </a:p>
        </p:txBody>
      </p:sp>
      <p:sp>
        <p:nvSpPr>
          <p:cNvPr id="4" name="Slide Number Placeholder 3"/>
          <p:cNvSpPr>
            <a:spLocks noGrp="1"/>
          </p:cNvSpPr>
          <p:nvPr>
            <p:ph type="sldNum" sz="quarter" idx="10"/>
          </p:nvPr>
        </p:nvSpPr>
        <p:spPr/>
        <p:txBody>
          <a:bodyPr/>
          <a:lstStyle/>
          <a:p>
            <a:fld id="{BC4A94A8-6395-47BF-8D37-463AA6B2204C}" type="slidenum">
              <a:rPr lang="en-GB" smtClean="0"/>
              <a:t>6</a:t>
            </a:fld>
            <a:endParaRPr lang="en-GB"/>
          </a:p>
        </p:txBody>
      </p:sp>
    </p:spTree>
    <p:extLst>
      <p:ext uri="{BB962C8B-B14F-4D97-AF65-F5344CB8AC3E}">
        <p14:creationId xmlns:p14="http://schemas.microsoft.com/office/powerpoint/2010/main" val="37943743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Risk List &amp; Feasibility</a:t>
            </a:r>
            <a:endParaRPr lang="en-GB" sz="1200" b="1"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Technical Risks:</a:t>
            </a:r>
            <a:endParaRPr lang="en-GB"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Local storage may lead to data loss.</a:t>
            </a:r>
            <a:endParaRPr lang="en-GB"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No authentication layer reduces manager security.</a:t>
            </a:r>
            <a:endParaRPr lang="en-GB"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Performance may degrade with large data sets.</a:t>
            </a:r>
            <a:endParaRPr lang="en-GB"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a:t>
            </a:r>
            <a:endParaRPr lang="en-GB"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Business Risks:</a:t>
            </a:r>
            <a:endParaRPr lang="en-GB"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Staff may struggle to adopt new system.</a:t>
            </a:r>
            <a:endParaRPr lang="en-GB"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a:t>
            </a:r>
            <a:endParaRPr lang="en-GB"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Mitigation:</a:t>
            </a:r>
            <a:endParaRPr lang="en-GB"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Future cloud sync</a:t>
            </a:r>
            <a:endParaRPr lang="en-GB"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Authentication enhancement</a:t>
            </a:r>
            <a:endParaRPr lang="en-GB"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UI/UX iterative improvement</a:t>
            </a:r>
            <a:endParaRPr lang="en-GB" sz="1200" kern="1200" dirty="0">
              <a:solidFill>
                <a:schemeClr val="tx1"/>
              </a:solidFill>
              <a:effectLst/>
              <a:latin typeface="+mn-lt"/>
              <a:ea typeface="+mn-ea"/>
              <a:cs typeface="+mn-cs"/>
            </a:endParaRPr>
          </a:p>
          <a:p>
            <a:endParaRPr lang="en-GB" dirty="0"/>
          </a:p>
        </p:txBody>
      </p:sp>
      <p:sp>
        <p:nvSpPr>
          <p:cNvPr id="4" name="Slide Number Placeholder 3"/>
          <p:cNvSpPr>
            <a:spLocks noGrp="1"/>
          </p:cNvSpPr>
          <p:nvPr>
            <p:ph type="sldNum" sz="quarter" idx="10"/>
          </p:nvPr>
        </p:nvSpPr>
        <p:spPr/>
        <p:txBody>
          <a:bodyPr/>
          <a:lstStyle/>
          <a:p>
            <a:fld id="{BC4A94A8-6395-47BF-8D37-463AA6B2204C}" type="slidenum">
              <a:rPr lang="en-GB" smtClean="0"/>
              <a:t>7</a:t>
            </a:fld>
            <a:endParaRPr lang="en-GB"/>
          </a:p>
        </p:txBody>
      </p:sp>
    </p:spTree>
    <p:extLst>
      <p:ext uri="{BB962C8B-B14F-4D97-AF65-F5344CB8AC3E}">
        <p14:creationId xmlns:p14="http://schemas.microsoft.com/office/powerpoint/2010/main" val="27454513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Iteration Plan (Unified Process)</a:t>
            </a:r>
            <a:endParaRPr lang="en-GB" sz="1200" b="1"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Inception:</a:t>
            </a:r>
            <a:endParaRPr lang="en-GB"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Vision, high-level requirements, risk list.</a:t>
            </a:r>
            <a:endParaRPr lang="en-GB"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a:t>
            </a:r>
            <a:endParaRPr lang="en-GB"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Elaboration:</a:t>
            </a:r>
            <a:endParaRPr lang="en-GB"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Architecture design, UI wireframes, detailed use cases.</a:t>
            </a:r>
            <a:endParaRPr lang="en-GB"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a:t>
            </a:r>
            <a:endParaRPr lang="en-GB"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Construction:</a:t>
            </a:r>
            <a:endParaRPr lang="en-GB"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Order module</a:t>
            </a:r>
            <a:endParaRPr lang="en-GB"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Manager approvals</a:t>
            </a:r>
            <a:endParaRPr lang="en-GB"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Daily summary</a:t>
            </a:r>
            <a:endParaRPr lang="en-GB"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Data persistence</a:t>
            </a:r>
            <a:endParaRPr lang="en-GB"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Full UI</a:t>
            </a:r>
            <a:endParaRPr lang="en-GB"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a:t>
            </a:r>
            <a:endParaRPr lang="en-GB"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Transition:</a:t>
            </a:r>
            <a:endParaRPr lang="en-GB"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Deployment</a:t>
            </a:r>
            <a:endParaRPr lang="en-GB"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Documentation</a:t>
            </a:r>
            <a:endParaRPr lang="en-GB"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Training</a:t>
            </a:r>
            <a:endParaRPr lang="en-GB"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Bug fixes</a:t>
            </a:r>
            <a:endParaRPr lang="en-GB" sz="1200" kern="1200" dirty="0">
              <a:solidFill>
                <a:schemeClr val="tx1"/>
              </a:solidFill>
              <a:effectLst/>
              <a:latin typeface="+mn-lt"/>
              <a:ea typeface="+mn-ea"/>
              <a:cs typeface="+mn-cs"/>
            </a:endParaRPr>
          </a:p>
          <a:p>
            <a:endParaRPr lang="en-GB" dirty="0"/>
          </a:p>
        </p:txBody>
      </p:sp>
      <p:sp>
        <p:nvSpPr>
          <p:cNvPr id="4" name="Slide Number Placeholder 3"/>
          <p:cNvSpPr>
            <a:spLocks noGrp="1"/>
          </p:cNvSpPr>
          <p:nvPr>
            <p:ph type="sldNum" sz="quarter" idx="10"/>
          </p:nvPr>
        </p:nvSpPr>
        <p:spPr/>
        <p:txBody>
          <a:bodyPr/>
          <a:lstStyle/>
          <a:p>
            <a:fld id="{BC4A94A8-6395-47BF-8D37-463AA6B2204C}" type="slidenum">
              <a:rPr lang="en-GB" smtClean="0"/>
              <a:t>12</a:t>
            </a:fld>
            <a:endParaRPr lang="en-GB"/>
          </a:p>
        </p:txBody>
      </p:sp>
    </p:spTree>
    <p:extLst>
      <p:ext uri="{BB962C8B-B14F-4D97-AF65-F5344CB8AC3E}">
        <p14:creationId xmlns:p14="http://schemas.microsoft.com/office/powerpoint/2010/main" val="39392321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866442" y="1447801"/>
            <a:ext cx="662096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866442" y="4777380"/>
            <a:ext cx="662096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9/7/2026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1205116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5BCAD085-E8A6-8845-BD4E-CB4CCA059FC4}" type="datetimeFigureOut">
              <a:rPr lang="en-US" smtClean="0"/>
              <a:t>9/7/2026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3276548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66443" y="2861734"/>
            <a:ext cx="662096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866442" y="4777381"/>
            <a:ext cx="662096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4804683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27700" y="2060576"/>
            <a:ext cx="3298113"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241975" y="2056093"/>
            <a:ext cx="3298115"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9/7/2026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2167948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827700" y="1905000"/>
            <a:ext cx="3298112"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27700" y="2514600"/>
            <a:ext cx="3298113"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241976" y="1905000"/>
            <a:ext cx="3298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241976" y="2514600"/>
            <a:ext cx="3298113"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9/7/2026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0252773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5BCAD085-E8A6-8845-BD4E-CB4CCA059FC4}" type="datetimeFigureOut">
              <a:rPr lang="en-US" smtClean="0"/>
              <a:t>9/7/2026</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2756737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5BCAD085-E8A6-8845-BD4E-CB4CCA059FC4}" type="datetimeFigureOut">
              <a:rPr lang="en-US" smtClean="0"/>
              <a:t>9/7/2026</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2084073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6441" y="1447800"/>
            <a:ext cx="2551462"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3589397" y="1447800"/>
            <a:ext cx="3898013"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66441" y="3129281"/>
            <a:ext cx="2551462"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5BCAD085-E8A6-8845-BD4E-CB4CCA059FC4}" type="datetimeFigureOut">
              <a:rPr lang="en-US" smtClean="0"/>
              <a:t>9/7/2026</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4619885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5656" y="1854192"/>
            <a:ext cx="3820674"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5213517" y="1143000"/>
            <a:ext cx="2400925"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866441" y="3657600"/>
            <a:ext cx="3814728"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6610727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6443" y="4800587"/>
            <a:ext cx="66209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866442" y="685800"/>
            <a:ext cx="662096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866443" y="5367325"/>
            <a:ext cx="662096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265906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866442" y="1447800"/>
            <a:ext cx="6620968"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866442" y="3657600"/>
            <a:ext cx="6620968"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65628932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81409" y="1447800"/>
            <a:ext cx="6001049"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448177" y="3771174"/>
            <a:ext cx="546115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866442" y="4350657"/>
            <a:ext cx="6620968"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12" name="TextBox 11"/>
          <p:cNvSpPr txBox="1"/>
          <p:nvPr/>
        </p:nvSpPr>
        <p:spPr>
          <a:xfrm>
            <a:off x="673897" y="971253"/>
            <a:ext cx="601591"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sz="12200" dirty="0"/>
              <a:t>“</a:t>
            </a:r>
          </a:p>
        </p:txBody>
      </p:sp>
      <p:sp>
        <p:nvSpPr>
          <p:cNvPr id="15" name="TextBox 14"/>
          <p:cNvSpPr txBox="1"/>
          <p:nvPr/>
        </p:nvSpPr>
        <p:spPr>
          <a:xfrm>
            <a:off x="6999690" y="2613787"/>
            <a:ext cx="601591"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sz="12200" dirty="0"/>
              <a:t>”</a:t>
            </a:r>
          </a:p>
        </p:txBody>
      </p:sp>
    </p:spTree>
    <p:extLst>
      <p:ext uri="{BB962C8B-B14F-4D97-AF65-F5344CB8AC3E}">
        <p14:creationId xmlns:p14="http://schemas.microsoft.com/office/powerpoint/2010/main" val="332262615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866441" y="3124201"/>
            <a:ext cx="6620969"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866442" y="4777381"/>
            <a:ext cx="6620968"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62950786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474834" y="1981200"/>
            <a:ext cx="22107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489475" y="2667000"/>
            <a:ext cx="219608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2913504" y="1981200"/>
            <a:ext cx="2202754"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2905586" y="2667000"/>
            <a:ext cx="2210671"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5344917" y="1981200"/>
            <a:ext cx="219965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5344917" y="2667000"/>
            <a:ext cx="2199658"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2795334"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5223030"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5BCAD085-E8A6-8845-BD4E-CB4CCA059FC4}" type="datetimeFigureOut">
              <a:rPr lang="en-US" smtClean="0"/>
              <a:t>9/7/2026</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01432833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489475" y="4250949"/>
            <a:ext cx="2205612"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489475" y="2209800"/>
            <a:ext cx="2205612"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489475" y="4827212"/>
            <a:ext cx="2205612"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2917792" y="4250949"/>
            <a:ext cx="21984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2917791" y="2209800"/>
            <a:ext cx="2198466"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2916776" y="4827211"/>
            <a:ext cx="2201378"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5344917" y="4250949"/>
            <a:ext cx="219965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5344916" y="2209800"/>
            <a:ext cx="2199658"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5344824" y="4827209"/>
            <a:ext cx="2202571"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2795334"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5223030"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5BCAD085-E8A6-8845-BD4E-CB4CCA059FC4}" type="datetimeFigureOut">
              <a:rPr lang="en-US" smtClean="0"/>
              <a:t>9/7/2026</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39752066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9/7/2026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44057968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29782" y="430214"/>
            <a:ext cx="1314793"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489475" y="773205"/>
            <a:ext cx="5568812" cy="548313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9/7/2026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1207570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2" name="Oval 21"/>
          <p:cNvSpPr/>
          <p:nvPr/>
        </p:nvSpPr>
        <p:spPr>
          <a:xfrm>
            <a:off x="629943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5689832" y="-457200"/>
            <a:ext cx="1600200" cy="1600200"/>
          </a:xfrm>
          <a:prstGeom prst="ellipse">
            <a:avLst/>
          </a:prstGeom>
          <a:gradFill flip="none" rotWithShape="1">
            <a:gsLst>
              <a:gs pos="0">
                <a:schemeClr val="bg2">
                  <a:lumMod val="60000"/>
                  <a:lumOff val="40000"/>
                  <a:alpha val="14000"/>
                </a:schemeClr>
              </a:gs>
              <a:gs pos="73000">
                <a:schemeClr val="bg2">
                  <a:lumMod val="60000"/>
                  <a:lumOff val="40000"/>
                  <a:alpha val="0"/>
                </a:schemeClr>
              </a:gs>
              <a:gs pos="36000">
                <a:schemeClr val="bg2">
                  <a:lumMod val="60000"/>
                  <a:lumOff val="4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6299432" y="6096000"/>
            <a:ext cx="990600" cy="990600"/>
          </a:xfrm>
          <a:prstGeom prst="ellipse">
            <a:avLst/>
          </a:prstGeom>
          <a:gradFill flip="none" rotWithShape="1">
            <a:gsLst>
              <a:gs pos="0">
                <a:schemeClr val="bg2">
                  <a:lumMod val="60000"/>
                  <a:lumOff val="40000"/>
                  <a:alpha val="9000"/>
                </a:schemeClr>
              </a:gs>
              <a:gs pos="66000">
                <a:schemeClr val="bg2">
                  <a:lumMod val="60000"/>
                  <a:lumOff val="40000"/>
                  <a:alpha val="0"/>
                </a:schemeClr>
              </a:gs>
              <a:gs pos="36000">
                <a:schemeClr val="bg2">
                  <a:lumMod val="60000"/>
                  <a:lumOff val="40000"/>
                  <a:alpha val="5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153988" y="2667000"/>
            <a:ext cx="4191000" cy="4191000"/>
          </a:xfrm>
          <a:prstGeom prst="ellipse">
            <a:avLst/>
          </a:prstGeom>
          <a:gradFill flip="none" rotWithShape="1">
            <a:gsLst>
              <a:gs pos="0">
                <a:schemeClr val="bg2">
                  <a:lumMod val="60000"/>
                  <a:lumOff val="40000"/>
                  <a:alpha val="11000"/>
                </a:schemeClr>
              </a:gs>
              <a:gs pos="75000">
                <a:schemeClr val="bg2">
                  <a:lumMod val="60000"/>
                  <a:lumOff val="40000"/>
                  <a:alpha val="0"/>
                </a:schemeClr>
              </a:gs>
              <a:gs pos="36000">
                <a:schemeClr val="bg2">
                  <a:lumMod val="60000"/>
                  <a:lumOff val="4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39788" y="2895600"/>
            <a:ext cx="2362200" cy="2362200"/>
          </a:xfrm>
          <a:prstGeom prst="ellipse">
            <a:avLst/>
          </a:prstGeom>
          <a:gradFill flip="none" rotWithShape="1">
            <a:gsLst>
              <a:gs pos="0">
                <a:schemeClr val="bg2">
                  <a:lumMod val="60000"/>
                  <a:lumOff val="40000"/>
                  <a:alpha val="8000"/>
                </a:schemeClr>
              </a:gs>
              <a:gs pos="72000">
                <a:schemeClr val="bg2">
                  <a:lumMod val="60000"/>
                  <a:lumOff val="40000"/>
                  <a:alpha val="0"/>
                </a:schemeClr>
              </a:gs>
              <a:gs pos="36000">
                <a:schemeClr val="bg2">
                  <a:lumMod val="60000"/>
                  <a:lumOff val="4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Rectangle 18"/>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484710" y="452718"/>
            <a:ext cx="7055380"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827700" y="2052925"/>
            <a:ext cx="6711654"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7494989" y="1828771"/>
            <a:ext cx="990599" cy="22865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5BCAD085-E8A6-8845-BD4E-CB4CCA059FC4}" type="datetimeFigureOut">
              <a:rPr lang="en-US" smtClean="0"/>
              <a:t>9/7/2026</a:t>
            </a:fld>
            <a:endParaRPr lang="en-US"/>
          </a:p>
        </p:txBody>
      </p:sp>
      <p:sp>
        <p:nvSpPr>
          <p:cNvPr id="5" name="Footer Placeholder 4"/>
          <p:cNvSpPr>
            <a:spLocks noGrp="1"/>
          </p:cNvSpPr>
          <p:nvPr>
            <p:ph type="ftr" sz="quarter" idx="3"/>
          </p:nvPr>
        </p:nvSpPr>
        <p:spPr>
          <a:xfrm rot="5400000">
            <a:off x="6233335" y="3263371"/>
            <a:ext cx="3859795" cy="228660"/>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a:p>
        </p:txBody>
      </p:sp>
      <p:sp>
        <p:nvSpPr>
          <p:cNvPr id="6" name="Slide Number Placeholder 5"/>
          <p:cNvSpPr>
            <a:spLocks noGrp="1"/>
          </p:cNvSpPr>
          <p:nvPr>
            <p:ph type="sldNum" sz="quarter" idx="4"/>
          </p:nvPr>
        </p:nvSpPr>
        <p:spPr bwMode="gray">
          <a:xfrm>
            <a:off x="7766431" y="295736"/>
            <a:ext cx="628813" cy="767687"/>
          </a:xfrm>
          <a:prstGeom prst="rect">
            <a:avLst/>
          </a:prstGeom>
        </p:spPr>
        <p:txBody>
          <a:bodyPr vert="horz" lIns="91440" tIns="45720" rIns="91440" bIns="45720" rtlCol="0" anchor="b"/>
          <a:lstStyle>
            <a:lvl1pPr algn="ctr">
              <a:defRPr sz="2801" b="0" i="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043080396"/>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7"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6" indent="-342906" algn="l" defTabSz="457207"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62" indent="-285755" algn="l" defTabSz="457207"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20"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27"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34"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14642"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49"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57"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64"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7" rtl="0" eaLnBrk="1" latinLnBrk="0" hangingPunct="1">
        <a:defRPr sz="1800" kern="1200">
          <a:solidFill>
            <a:schemeClr val="tx1"/>
          </a:solidFill>
          <a:latin typeface="+mn-lt"/>
          <a:ea typeface="+mn-ea"/>
          <a:cs typeface="+mn-cs"/>
        </a:defRPr>
      </a:lvl1pPr>
      <a:lvl2pPr marL="457207" algn="l" defTabSz="457207" rtl="0" eaLnBrk="1" latinLnBrk="0" hangingPunct="1">
        <a:defRPr sz="1800" kern="1200">
          <a:solidFill>
            <a:schemeClr val="tx1"/>
          </a:solidFill>
          <a:latin typeface="+mn-lt"/>
          <a:ea typeface="+mn-ea"/>
          <a:cs typeface="+mn-cs"/>
        </a:defRPr>
      </a:lvl2pPr>
      <a:lvl3pPr marL="914415" algn="l" defTabSz="457207" rtl="0" eaLnBrk="1" latinLnBrk="0" hangingPunct="1">
        <a:defRPr sz="1800" kern="1200">
          <a:solidFill>
            <a:schemeClr val="tx1"/>
          </a:solidFill>
          <a:latin typeface="+mn-lt"/>
          <a:ea typeface="+mn-ea"/>
          <a:cs typeface="+mn-cs"/>
        </a:defRPr>
      </a:lvl3pPr>
      <a:lvl4pPr marL="1371622" algn="l" defTabSz="457207" rtl="0" eaLnBrk="1" latinLnBrk="0" hangingPunct="1">
        <a:defRPr sz="1800" kern="1200">
          <a:solidFill>
            <a:schemeClr val="tx1"/>
          </a:solidFill>
          <a:latin typeface="+mn-lt"/>
          <a:ea typeface="+mn-ea"/>
          <a:cs typeface="+mn-cs"/>
        </a:defRPr>
      </a:lvl4pPr>
      <a:lvl5pPr marL="1828831" algn="l" defTabSz="457207" rtl="0" eaLnBrk="1" latinLnBrk="0" hangingPunct="1">
        <a:defRPr sz="1800" kern="1200">
          <a:solidFill>
            <a:schemeClr val="tx1"/>
          </a:solidFill>
          <a:latin typeface="+mn-lt"/>
          <a:ea typeface="+mn-ea"/>
          <a:cs typeface="+mn-cs"/>
        </a:defRPr>
      </a:lvl5pPr>
      <a:lvl6pPr marL="2286038" algn="l" defTabSz="457207" rtl="0" eaLnBrk="1" latinLnBrk="0" hangingPunct="1">
        <a:defRPr sz="1800" kern="1200">
          <a:solidFill>
            <a:schemeClr val="tx1"/>
          </a:solidFill>
          <a:latin typeface="+mn-lt"/>
          <a:ea typeface="+mn-ea"/>
          <a:cs typeface="+mn-cs"/>
        </a:defRPr>
      </a:lvl6pPr>
      <a:lvl7pPr marL="2743246" algn="l" defTabSz="457207" rtl="0" eaLnBrk="1" latinLnBrk="0" hangingPunct="1">
        <a:defRPr sz="1800" kern="1200">
          <a:solidFill>
            <a:schemeClr val="tx1"/>
          </a:solidFill>
          <a:latin typeface="+mn-lt"/>
          <a:ea typeface="+mn-ea"/>
          <a:cs typeface="+mn-cs"/>
        </a:defRPr>
      </a:lvl7pPr>
      <a:lvl8pPr marL="3200453" algn="l" defTabSz="457207" rtl="0" eaLnBrk="1" latinLnBrk="0" hangingPunct="1">
        <a:defRPr sz="1800" kern="1200">
          <a:solidFill>
            <a:schemeClr val="tx1"/>
          </a:solidFill>
          <a:latin typeface="+mn-lt"/>
          <a:ea typeface="+mn-ea"/>
          <a:cs typeface="+mn-cs"/>
        </a:defRPr>
      </a:lvl8pPr>
      <a:lvl9pPr marL="3657661" algn="l" defTabSz="45720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F88009-9982-9140-BA1F-41560C5F7007}"/>
              </a:ext>
            </a:extLst>
          </p:cNvPr>
          <p:cNvSpPr>
            <a:spLocks noGrp="1"/>
          </p:cNvSpPr>
          <p:nvPr>
            <p:ph type="title"/>
          </p:nvPr>
        </p:nvSpPr>
        <p:spPr>
          <a:xfrm>
            <a:off x="484710" y="263769"/>
            <a:ext cx="7850398" cy="1688123"/>
          </a:xfrm>
        </p:spPr>
        <p:txBody>
          <a:bodyPr/>
          <a:lstStyle/>
          <a:p>
            <a:pPr algn="ctr"/>
            <a:r>
              <a:rPr lang="en-GB" sz="6000" b="1" dirty="0"/>
              <a:t>CAFE POINT OF SALE SYSTEM </a:t>
            </a:r>
            <a:br>
              <a:rPr lang="en-GB" sz="6000" b="1" dirty="0"/>
            </a:br>
            <a:r>
              <a:rPr lang="en-GB" sz="6000" b="1" dirty="0"/>
              <a:t> </a:t>
            </a:r>
            <a:br>
              <a:rPr lang="en-GB" sz="6000" b="1" dirty="0"/>
            </a:br>
            <a:r>
              <a:rPr lang="en-GB" sz="6000" dirty="0"/>
              <a:t/>
            </a:r>
            <a:br>
              <a:rPr lang="en-GB" sz="6000" dirty="0"/>
            </a:br>
            <a:r>
              <a:rPr lang="en-GB" sz="6000" dirty="0"/>
              <a:t>INCEPTION PHASE</a:t>
            </a:r>
            <a:br>
              <a:rPr lang="en-GB" sz="6000" dirty="0"/>
            </a:br>
            <a:r>
              <a:rPr lang="en-GB" sz="6000" dirty="0"/>
              <a:t/>
            </a:r>
            <a:br>
              <a:rPr lang="en-GB" sz="6000" dirty="0"/>
            </a:br>
            <a:endParaRPr lang="en-US" sz="6000" dirty="0"/>
          </a:p>
        </p:txBody>
      </p:sp>
    </p:spTree>
    <p:extLst>
      <p:ext uri="{BB962C8B-B14F-4D97-AF65-F5344CB8AC3E}">
        <p14:creationId xmlns:p14="http://schemas.microsoft.com/office/powerpoint/2010/main" val="29641450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PROBLEM STATEMENT</a:t>
            </a:r>
          </a:p>
        </p:txBody>
      </p:sp>
      <p:sp>
        <p:nvSpPr>
          <p:cNvPr id="3" name="Content Placeholder 2"/>
          <p:cNvSpPr>
            <a:spLocks noGrp="1"/>
          </p:cNvSpPr>
          <p:nvPr>
            <p:ph idx="1"/>
          </p:nvPr>
        </p:nvSpPr>
        <p:spPr>
          <a:xfrm>
            <a:off x="827700" y="1635369"/>
            <a:ext cx="6711654" cy="4613037"/>
          </a:xfrm>
        </p:spPr>
        <p:txBody>
          <a:bodyPr/>
          <a:lstStyle/>
          <a:p>
            <a:r>
              <a:rPr lang="en-US" dirty="0"/>
              <a:t>The café has a slow ordering system leading to customer dissatisfaction and manual tracking of sales through book keeping with no automatic way of identifying sold items and automatically calculating sales leading to susceptibility of loosing records from book-keeping.</a:t>
            </a:r>
          </a:p>
          <a:p>
            <a:r>
              <a:rPr lang="en-US" dirty="0"/>
              <a:t>This gap creates a demand for a website to automate the café’s sales and stock.</a:t>
            </a: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BUSINESS CASE</a:t>
            </a:r>
          </a:p>
        </p:txBody>
      </p:sp>
      <p:sp>
        <p:nvSpPr>
          <p:cNvPr id="3" name="Content Placeholder 2"/>
          <p:cNvSpPr>
            <a:spLocks noGrp="1"/>
          </p:cNvSpPr>
          <p:nvPr>
            <p:ph idx="1"/>
          </p:nvPr>
        </p:nvSpPr>
        <p:spPr/>
        <p:txBody>
          <a:bodyPr/>
          <a:lstStyle/>
          <a:p>
            <a:r>
              <a:rPr lang="en-US" dirty="0"/>
              <a:t>Creating a point of sale system will benefit the stakeholders in the following ways;</a:t>
            </a:r>
          </a:p>
          <a:p>
            <a:pPr>
              <a:buFont typeface="Arial" panose="020B0604020202020204" pitchFamily="34" charset="0"/>
              <a:buChar char="•"/>
            </a:pPr>
            <a:r>
              <a:rPr dirty="0"/>
              <a:t>Owners: Accurate revenue</a:t>
            </a:r>
          </a:p>
          <a:p>
            <a:pPr>
              <a:buFont typeface="Arial" panose="020B0604020202020204" pitchFamily="34" charset="0"/>
              <a:buChar char="•"/>
            </a:pPr>
            <a:r>
              <a:rPr dirty="0"/>
              <a:t>Cashiers: Faster workflow</a:t>
            </a:r>
          </a:p>
          <a:p>
            <a:pPr>
              <a:buFont typeface="Arial" panose="020B0604020202020204" pitchFamily="34" charset="0"/>
              <a:buChar char="•"/>
            </a:pPr>
            <a:r>
              <a:rPr dirty="0"/>
              <a:t>Customers: Quicker service</a:t>
            </a:r>
          </a:p>
          <a:p>
            <a:pPr>
              <a:buFont typeface="Arial" panose="020B0604020202020204" pitchFamily="34" charset="0"/>
              <a:buChar char="•"/>
            </a:pPr>
            <a:r>
              <a:rPr lang="en-US" dirty="0"/>
              <a:t>Business: Reduced training overhead and improved decision making.</a:t>
            </a: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4710" y="452718"/>
            <a:ext cx="7055380" cy="859356"/>
          </a:xfrm>
        </p:spPr>
        <p:txBody>
          <a:bodyPr/>
          <a:lstStyle/>
          <a:p>
            <a:r>
              <a:rPr lang="en-US" sz="4000" dirty="0"/>
              <a:t>HIGH-LEVEL REQUIREMENTS</a:t>
            </a:r>
          </a:p>
        </p:txBody>
      </p:sp>
      <p:sp>
        <p:nvSpPr>
          <p:cNvPr id="3" name="Content Placeholder 2"/>
          <p:cNvSpPr>
            <a:spLocks noGrp="1"/>
          </p:cNvSpPr>
          <p:nvPr>
            <p:ph idx="1"/>
          </p:nvPr>
        </p:nvSpPr>
        <p:spPr>
          <a:xfrm>
            <a:off x="615462" y="1811215"/>
            <a:ext cx="7649307" cy="4594066"/>
          </a:xfrm>
        </p:spPr>
        <p:txBody>
          <a:bodyPr>
            <a:normAutofit/>
          </a:bodyPr>
          <a:lstStyle/>
          <a:p>
            <a:r>
              <a:rPr lang="en-GB" dirty="0"/>
              <a:t>FUNCTIONAL REQUIREMENTS</a:t>
            </a:r>
          </a:p>
          <a:p>
            <a:pPr>
              <a:buFont typeface="Wingdings" panose="05000000000000000000" pitchFamily="2" charset="2"/>
              <a:buChar char="§"/>
            </a:pPr>
            <a:r>
              <a:rPr lang="en-US" dirty="0"/>
              <a:t>Role switching (Cashier/Manager)</a:t>
            </a:r>
            <a:endParaRPr lang="en-GB" dirty="0"/>
          </a:p>
          <a:p>
            <a:pPr>
              <a:buFont typeface="Wingdings" panose="05000000000000000000" pitchFamily="2" charset="2"/>
              <a:buChar char="§"/>
            </a:pPr>
            <a:r>
              <a:rPr lang="en-US" dirty="0"/>
              <a:t>Category-based menu</a:t>
            </a:r>
            <a:endParaRPr lang="en-GB" dirty="0"/>
          </a:p>
          <a:p>
            <a:pPr>
              <a:buFont typeface="Wingdings" panose="05000000000000000000" pitchFamily="2" charset="2"/>
              <a:buChar char="§"/>
            </a:pPr>
            <a:r>
              <a:rPr lang="en-US" dirty="0"/>
              <a:t>Order creation, quantity adjustments, clearing orders</a:t>
            </a:r>
            <a:endParaRPr lang="en-GB" dirty="0"/>
          </a:p>
          <a:p>
            <a:pPr>
              <a:buFont typeface="Wingdings" panose="05000000000000000000" pitchFamily="2" charset="2"/>
              <a:buChar char="§"/>
            </a:pPr>
            <a:r>
              <a:rPr lang="en-US" dirty="0"/>
              <a:t>Payment by cash or card</a:t>
            </a:r>
            <a:endParaRPr lang="en-GB" dirty="0"/>
          </a:p>
          <a:p>
            <a:pPr>
              <a:buFont typeface="Wingdings" panose="05000000000000000000" pitchFamily="2" charset="2"/>
              <a:buChar char="§"/>
            </a:pPr>
            <a:r>
              <a:rPr lang="en-US" dirty="0"/>
              <a:t>Pending approval system for managers</a:t>
            </a:r>
            <a:endParaRPr lang="en-GB" dirty="0"/>
          </a:p>
          <a:p>
            <a:pPr>
              <a:buFont typeface="Wingdings" panose="05000000000000000000" pitchFamily="2" charset="2"/>
              <a:buChar char="§"/>
            </a:pPr>
            <a:r>
              <a:rPr lang="en-US" dirty="0"/>
              <a:t>Daily summary with revenue, top items, statistics</a:t>
            </a:r>
            <a:endParaRPr lang="en-GB" dirty="0"/>
          </a:p>
          <a:p>
            <a:pPr>
              <a:buFont typeface="Wingdings" panose="05000000000000000000" pitchFamily="2" charset="2"/>
              <a:buChar char="§"/>
            </a:pPr>
            <a:r>
              <a:rPr lang="en-US" dirty="0"/>
              <a:t>Local storage for offline operation</a:t>
            </a:r>
            <a:endParaRPr lang="en-GB" dirty="0"/>
          </a:p>
          <a:p>
            <a:pPr>
              <a:buFont typeface="Wingdings" panose="05000000000000000000" pitchFamily="2" charset="2"/>
              <a:buChar char="v"/>
            </a:pPr>
            <a:endParaRPr lang="en-GB"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7E7A07-7B42-45CF-E32E-6BAB26248BCF}"/>
              </a:ext>
            </a:extLst>
          </p:cNvPr>
          <p:cNvSpPr>
            <a:spLocks noGrp="1"/>
          </p:cNvSpPr>
          <p:nvPr>
            <p:ph type="title"/>
          </p:nvPr>
        </p:nvSpPr>
        <p:spPr>
          <a:xfrm>
            <a:off x="484710" y="452718"/>
            <a:ext cx="7055380" cy="971636"/>
          </a:xfrm>
        </p:spPr>
        <p:txBody>
          <a:bodyPr/>
          <a:lstStyle/>
          <a:p>
            <a:r>
              <a:rPr lang="en-US" dirty="0"/>
              <a:t>CONTINUATION OF HIGH-LEVEL REQUIREMENTS</a:t>
            </a:r>
          </a:p>
        </p:txBody>
      </p:sp>
      <p:sp>
        <p:nvSpPr>
          <p:cNvPr id="3" name="Content Placeholder 2">
            <a:extLst>
              <a:ext uri="{FF2B5EF4-FFF2-40B4-BE49-F238E27FC236}">
                <a16:creationId xmlns:a16="http://schemas.microsoft.com/office/drawing/2014/main" id="{7D64E348-9988-8462-73B3-20716BA1C880}"/>
              </a:ext>
            </a:extLst>
          </p:cNvPr>
          <p:cNvSpPr>
            <a:spLocks noGrp="1"/>
          </p:cNvSpPr>
          <p:nvPr>
            <p:ph idx="1"/>
          </p:nvPr>
        </p:nvSpPr>
        <p:spPr/>
        <p:txBody>
          <a:bodyPr/>
          <a:lstStyle/>
          <a:p>
            <a:r>
              <a:rPr lang="en-US" dirty="0"/>
              <a:t>NON- FUNTIONAL REQUIREMENTS</a:t>
            </a:r>
          </a:p>
          <a:p>
            <a:pPr>
              <a:buFont typeface="Wingdings" panose="05000000000000000000" pitchFamily="2" charset="2"/>
              <a:buChar char="§"/>
            </a:pPr>
            <a:r>
              <a:rPr lang="en-GB" dirty="0"/>
              <a:t>Fast and responsive: The system must be fast and quick to handle peak hours without delay.</a:t>
            </a:r>
          </a:p>
          <a:p>
            <a:pPr>
              <a:buFont typeface="Wingdings" panose="05000000000000000000" pitchFamily="2" charset="2"/>
              <a:buChar char="§"/>
            </a:pPr>
            <a:r>
              <a:rPr lang="en-GB" dirty="0"/>
              <a:t>Reliability: The system must have minimal downtime</a:t>
            </a:r>
          </a:p>
          <a:p>
            <a:pPr>
              <a:buFont typeface="Wingdings" panose="05000000000000000000" pitchFamily="2" charset="2"/>
              <a:buChar char="§"/>
            </a:pPr>
            <a:r>
              <a:rPr lang="en-GB" dirty="0"/>
              <a:t>Security: The system must protect customer payment data  </a:t>
            </a:r>
          </a:p>
          <a:p>
            <a:pPr>
              <a:buFont typeface="Wingdings" panose="05000000000000000000" pitchFamily="2" charset="2"/>
              <a:buChar char="§"/>
            </a:pPr>
            <a:endParaRPr lang="en-US" dirty="0"/>
          </a:p>
        </p:txBody>
      </p:sp>
    </p:spTree>
    <p:extLst>
      <p:ext uri="{BB962C8B-B14F-4D97-AF65-F5344CB8AC3E}">
        <p14:creationId xmlns:p14="http://schemas.microsoft.com/office/powerpoint/2010/main" val="5439915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USE CASES (10%)</a:t>
            </a:r>
          </a:p>
        </p:txBody>
      </p:sp>
      <p:sp>
        <p:nvSpPr>
          <p:cNvPr id="3" name="Content Placeholder 2"/>
          <p:cNvSpPr>
            <a:spLocks noGrp="1"/>
          </p:cNvSpPr>
          <p:nvPr>
            <p:ph idx="1"/>
          </p:nvPr>
        </p:nvSpPr>
        <p:spPr/>
        <p:txBody>
          <a:bodyPr>
            <a:normAutofit/>
          </a:bodyPr>
          <a:lstStyle/>
          <a:p>
            <a:pPr>
              <a:buFont typeface="Wingdings" panose="05000000000000000000" pitchFamily="2" charset="2"/>
              <a:buChar char="§"/>
            </a:pPr>
            <a:r>
              <a:rPr dirty="0"/>
              <a:t>Create Order</a:t>
            </a:r>
          </a:p>
          <a:p>
            <a:pPr>
              <a:buFont typeface="Wingdings" panose="05000000000000000000" pitchFamily="2" charset="2"/>
              <a:buChar char="§"/>
            </a:pPr>
            <a:r>
              <a:rPr dirty="0"/>
              <a:t>Adjust Quantity</a:t>
            </a:r>
          </a:p>
          <a:p>
            <a:pPr>
              <a:buFont typeface="Wingdings" panose="05000000000000000000" pitchFamily="2" charset="2"/>
              <a:buChar char="§"/>
            </a:pPr>
            <a:r>
              <a:rPr dirty="0"/>
              <a:t>Approve Orders</a:t>
            </a:r>
          </a:p>
          <a:p>
            <a:pPr>
              <a:buFont typeface="Wingdings" panose="05000000000000000000" pitchFamily="2" charset="2"/>
              <a:buChar char="§"/>
            </a:pPr>
            <a:r>
              <a:rPr dirty="0"/>
              <a:t>View Daily Summary</a:t>
            </a:r>
          </a:p>
          <a:p>
            <a:pPr>
              <a:buFont typeface="Wingdings" panose="05000000000000000000" pitchFamily="2" charset="2"/>
              <a:buChar char="§"/>
            </a:pPr>
            <a:r>
              <a:rPr dirty="0"/>
              <a:t>Switch Role</a:t>
            </a:r>
            <a:endParaRPr lang="en-US" dirty="0"/>
          </a:p>
          <a:p>
            <a:pPr>
              <a:buFont typeface="Wingdings" panose="05000000000000000000" pitchFamily="2" charset="2"/>
              <a:buChar char="§"/>
            </a:pPr>
            <a:r>
              <a:rPr lang="en-US" dirty="0"/>
              <a:t>Process payment</a:t>
            </a:r>
            <a:endParaRPr lang="en-GB" dirty="0"/>
          </a:p>
          <a:p>
            <a:pPr marL="0" indent="0">
              <a:buNone/>
            </a:pPr>
            <a:endParaRPr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4710" y="452718"/>
            <a:ext cx="7055380" cy="910256"/>
          </a:xfrm>
        </p:spPr>
        <p:txBody>
          <a:bodyPr/>
          <a:lstStyle/>
          <a:p>
            <a:r>
              <a:rPr lang="en-US" dirty="0"/>
              <a:t>RISKS LIST &amp; FEASIBILITY STUDY</a:t>
            </a:r>
          </a:p>
        </p:txBody>
      </p:sp>
      <p:sp>
        <p:nvSpPr>
          <p:cNvPr id="3" name="Content Placeholder 2"/>
          <p:cNvSpPr>
            <a:spLocks noGrp="1"/>
          </p:cNvSpPr>
          <p:nvPr>
            <p:ph idx="1"/>
          </p:nvPr>
        </p:nvSpPr>
        <p:spPr>
          <a:xfrm>
            <a:off x="828436" y="1853248"/>
            <a:ext cx="6711654" cy="4195481"/>
          </a:xfrm>
        </p:spPr>
        <p:txBody>
          <a:bodyPr>
            <a:normAutofit/>
          </a:bodyPr>
          <a:lstStyle/>
          <a:p>
            <a:r>
              <a:rPr lang="en-US" dirty="0"/>
              <a:t>RISK LIST</a:t>
            </a:r>
          </a:p>
          <a:p>
            <a:r>
              <a:rPr dirty="0"/>
              <a:t>Technical: Data loss, performance</a:t>
            </a:r>
            <a:r>
              <a:rPr lang="en-US" dirty="0"/>
              <a:t>, Internet failure, </a:t>
            </a:r>
            <a:r>
              <a:rPr lang="en-US" dirty="0" err="1"/>
              <a:t>Sytem</a:t>
            </a:r>
            <a:r>
              <a:rPr lang="en-US" dirty="0"/>
              <a:t> downtime and Hardware failure</a:t>
            </a:r>
          </a:p>
          <a:p>
            <a:r>
              <a:rPr lang="en-US" dirty="0"/>
              <a:t>Operational Risk: Staff resistance to change, Incorrect Data Entry, Poor Vendor Support</a:t>
            </a:r>
          </a:p>
          <a:p>
            <a:r>
              <a:rPr lang="en-US" dirty="0"/>
              <a:t>Security Risks: Data Breach, Payment Fraud, Unauthorized Access.</a:t>
            </a:r>
            <a:endParaRPr lang="en-GB" dirty="0"/>
          </a:p>
          <a:p>
            <a:endParaRPr lang="en-US" dirty="0"/>
          </a:p>
          <a:p>
            <a:endParaRPr lang="en-US" dirty="0"/>
          </a:p>
          <a:p>
            <a:pPr marL="0" indent="0">
              <a:buNone/>
            </a:pPr>
            <a:endParaRPr lang="en-US" dirty="0"/>
          </a:p>
        </p:txBody>
      </p:sp>
    </p:spTree>
  </p:cSld>
  <p:clrMapOvr>
    <a:masterClrMapping/>
  </p:clrMapOvr>
  <p:transition spd="med">
    <p:pull/>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6600FC-82A1-F6C1-49F1-7AF3659C285D}"/>
              </a:ext>
            </a:extLst>
          </p:cNvPr>
          <p:cNvSpPr>
            <a:spLocks noGrp="1"/>
          </p:cNvSpPr>
          <p:nvPr>
            <p:ph type="title"/>
          </p:nvPr>
        </p:nvSpPr>
        <p:spPr/>
        <p:txBody>
          <a:bodyPr/>
          <a:lstStyle/>
          <a:p>
            <a:r>
              <a:rPr lang="en-US" dirty="0"/>
              <a:t>FEASIBILITY STUDY</a:t>
            </a:r>
          </a:p>
        </p:txBody>
      </p:sp>
      <p:sp>
        <p:nvSpPr>
          <p:cNvPr id="3" name="Content Placeholder 2">
            <a:extLst>
              <a:ext uri="{FF2B5EF4-FFF2-40B4-BE49-F238E27FC236}">
                <a16:creationId xmlns:a16="http://schemas.microsoft.com/office/drawing/2014/main" id="{FEDE1814-9D0C-D551-E36E-F7C602F5B2EF}"/>
              </a:ext>
            </a:extLst>
          </p:cNvPr>
          <p:cNvSpPr>
            <a:spLocks noGrp="1"/>
          </p:cNvSpPr>
          <p:nvPr>
            <p:ph idx="1"/>
          </p:nvPr>
        </p:nvSpPr>
        <p:spPr/>
        <p:txBody>
          <a:bodyPr/>
          <a:lstStyle/>
          <a:p>
            <a:r>
              <a:rPr lang="en-GB" b="1" dirty="0"/>
              <a:t>Technical Feasibility:</a:t>
            </a:r>
            <a:endParaRPr lang="en-GB" dirty="0"/>
          </a:p>
          <a:p>
            <a:pPr marL="0" indent="0">
              <a:buNone/>
            </a:pPr>
            <a:r>
              <a:rPr lang="en-GB" dirty="0"/>
              <a:t>Reliable internet connection</a:t>
            </a:r>
          </a:p>
          <a:p>
            <a:pPr>
              <a:buFont typeface="Arial" panose="020B0604020202020204" pitchFamily="34" charset="0"/>
              <a:buChar char="•"/>
            </a:pPr>
            <a:r>
              <a:rPr lang="en-GB" dirty="0"/>
              <a:t>Compatible hardware (tablet or touchscreen terminal)</a:t>
            </a:r>
          </a:p>
          <a:p>
            <a:pPr>
              <a:buFont typeface="Arial" panose="020B0604020202020204" pitchFamily="34" charset="0"/>
              <a:buChar char="•"/>
            </a:pPr>
            <a:r>
              <a:rPr lang="en-GB" dirty="0"/>
              <a:t>Secure payment processing</a:t>
            </a:r>
          </a:p>
          <a:p>
            <a:pPr>
              <a:buFont typeface="Arial" panose="020B0604020202020204" pitchFamily="34" charset="0"/>
              <a:buChar char="•"/>
            </a:pPr>
            <a:r>
              <a:rPr lang="en-GB" dirty="0"/>
              <a:t>Cloud or local server setup</a:t>
            </a:r>
          </a:p>
          <a:p>
            <a:pPr>
              <a:buFont typeface="Arial" panose="020B0604020202020204" pitchFamily="34" charset="0"/>
              <a:buChar char="•"/>
            </a:pPr>
            <a:r>
              <a:rPr lang="en-GB" b="1" dirty="0"/>
              <a:t>Conclusion:</a:t>
            </a:r>
            <a:r>
              <a:rPr lang="en-GB" dirty="0"/>
              <a:t> Technically feasible with standard café infrastructure.</a:t>
            </a:r>
          </a:p>
          <a:p>
            <a:pPr>
              <a:buFont typeface="Arial" panose="020B0604020202020204" pitchFamily="34" charset="0"/>
              <a:buChar char="•"/>
            </a:pPr>
            <a:endParaRPr lang="en-GB" dirty="0"/>
          </a:p>
          <a:p>
            <a:pPr>
              <a:buFont typeface="Arial" panose="020B0604020202020204" pitchFamily="34" charset="0"/>
              <a:buChar char="•"/>
            </a:pPr>
            <a:endParaRPr lang="en-GB" dirty="0"/>
          </a:p>
          <a:p>
            <a:pPr>
              <a:buFont typeface="Arial" panose="020B0604020202020204" pitchFamily="34" charset="0"/>
              <a:buChar char="•"/>
            </a:pPr>
            <a:endParaRPr lang="en-GB" dirty="0"/>
          </a:p>
          <a:p>
            <a:endParaRPr lang="en-US" dirty="0"/>
          </a:p>
        </p:txBody>
      </p:sp>
    </p:spTree>
    <p:extLst>
      <p:ext uri="{BB962C8B-B14F-4D97-AF65-F5344CB8AC3E}">
        <p14:creationId xmlns:p14="http://schemas.microsoft.com/office/powerpoint/2010/main" val="14684427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606DF6-EFCA-3066-D9C5-8BB2A1F111CA}"/>
              </a:ext>
            </a:extLst>
          </p:cNvPr>
          <p:cNvSpPr>
            <a:spLocks noGrp="1"/>
          </p:cNvSpPr>
          <p:nvPr>
            <p:ph type="title"/>
          </p:nvPr>
        </p:nvSpPr>
        <p:spPr/>
        <p:txBody>
          <a:bodyPr/>
          <a:lstStyle/>
          <a:p>
            <a:r>
              <a:rPr lang="en-US" dirty="0"/>
              <a:t>CONTINUATION OF FEASIBILITY STUDY</a:t>
            </a:r>
          </a:p>
        </p:txBody>
      </p:sp>
      <p:sp>
        <p:nvSpPr>
          <p:cNvPr id="3" name="Content Placeholder 2">
            <a:extLst>
              <a:ext uri="{FF2B5EF4-FFF2-40B4-BE49-F238E27FC236}">
                <a16:creationId xmlns:a16="http://schemas.microsoft.com/office/drawing/2014/main" id="{D922DEC9-3B32-61FB-3891-7104A3786402}"/>
              </a:ext>
            </a:extLst>
          </p:cNvPr>
          <p:cNvSpPr>
            <a:spLocks noGrp="1"/>
          </p:cNvSpPr>
          <p:nvPr>
            <p:ph idx="1"/>
          </p:nvPr>
        </p:nvSpPr>
        <p:spPr/>
        <p:txBody>
          <a:bodyPr/>
          <a:lstStyle/>
          <a:p>
            <a:r>
              <a:rPr lang="en-GB" b="1" dirty="0"/>
              <a:t>Operational Feasibility</a:t>
            </a:r>
          </a:p>
          <a:p>
            <a:r>
              <a:rPr lang="en-GB" b="1" dirty="0"/>
              <a:t>Impact on Staff:</a:t>
            </a:r>
            <a:endParaRPr lang="en-GB" dirty="0"/>
          </a:p>
          <a:p>
            <a:pPr>
              <a:buFont typeface="Arial" panose="020B0604020202020204" pitchFamily="34" charset="0"/>
              <a:buChar char="•"/>
            </a:pPr>
            <a:r>
              <a:rPr lang="en-GB" dirty="0"/>
              <a:t>Simplifies order taking</a:t>
            </a:r>
          </a:p>
          <a:p>
            <a:pPr>
              <a:buFont typeface="Arial" panose="020B0604020202020204" pitchFamily="34" charset="0"/>
              <a:buChar char="•"/>
            </a:pPr>
            <a:r>
              <a:rPr lang="en-GB" dirty="0"/>
              <a:t>Faster billing</a:t>
            </a:r>
          </a:p>
          <a:p>
            <a:pPr>
              <a:buFont typeface="Arial" panose="020B0604020202020204" pitchFamily="34" charset="0"/>
              <a:buChar char="•"/>
            </a:pPr>
            <a:r>
              <a:rPr lang="en-GB" dirty="0"/>
              <a:t>Reduced human error</a:t>
            </a:r>
          </a:p>
          <a:p>
            <a:pPr>
              <a:buFont typeface="Arial" panose="020B0604020202020204" pitchFamily="34" charset="0"/>
              <a:buChar char="•"/>
            </a:pPr>
            <a:r>
              <a:rPr lang="en-GB" dirty="0"/>
              <a:t>Easy reporting for management</a:t>
            </a:r>
          </a:p>
          <a:p>
            <a:pPr>
              <a:buFont typeface="Arial" panose="020B0604020202020204" pitchFamily="34" charset="0"/>
              <a:buChar char="•"/>
            </a:pPr>
            <a:r>
              <a:rPr lang="en-GB" dirty="0"/>
              <a:t>Conclusion: High operational benefit and manageable training requirements.</a:t>
            </a:r>
          </a:p>
          <a:p>
            <a:endParaRPr lang="en-US" dirty="0"/>
          </a:p>
          <a:p>
            <a:endParaRPr lang="en-US" dirty="0"/>
          </a:p>
        </p:txBody>
      </p:sp>
    </p:spTree>
    <p:extLst>
      <p:ext uri="{BB962C8B-B14F-4D97-AF65-F5344CB8AC3E}">
        <p14:creationId xmlns:p14="http://schemas.microsoft.com/office/powerpoint/2010/main" val="28499888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9C0A19-E73A-BCB6-C2F8-66FEEAE482EB}"/>
              </a:ext>
            </a:extLst>
          </p:cNvPr>
          <p:cNvSpPr>
            <a:spLocks noGrp="1"/>
          </p:cNvSpPr>
          <p:nvPr>
            <p:ph type="title"/>
          </p:nvPr>
        </p:nvSpPr>
        <p:spPr/>
        <p:txBody>
          <a:bodyPr/>
          <a:lstStyle/>
          <a:p>
            <a:r>
              <a:rPr lang="en-US" dirty="0"/>
              <a:t>CONTINUATION OF FEASIBILITY STUDY</a:t>
            </a:r>
          </a:p>
        </p:txBody>
      </p:sp>
      <p:sp>
        <p:nvSpPr>
          <p:cNvPr id="3" name="Content Placeholder 2">
            <a:extLst>
              <a:ext uri="{FF2B5EF4-FFF2-40B4-BE49-F238E27FC236}">
                <a16:creationId xmlns:a16="http://schemas.microsoft.com/office/drawing/2014/main" id="{3CCB5900-AB3B-4D02-6487-3CC6344C045E}"/>
              </a:ext>
            </a:extLst>
          </p:cNvPr>
          <p:cNvSpPr>
            <a:spLocks noGrp="1"/>
          </p:cNvSpPr>
          <p:nvPr>
            <p:ph idx="1"/>
          </p:nvPr>
        </p:nvSpPr>
        <p:spPr/>
        <p:txBody>
          <a:bodyPr>
            <a:normAutofit/>
          </a:bodyPr>
          <a:lstStyle/>
          <a:p>
            <a:r>
              <a:rPr lang="en-GB" b="1" dirty="0"/>
              <a:t>Economic Feasibility</a:t>
            </a:r>
          </a:p>
          <a:p>
            <a:pPr>
              <a:buFont typeface="Arial" panose="020B0604020202020204" pitchFamily="34" charset="0"/>
              <a:buChar char="•"/>
            </a:pPr>
            <a:r>
              <a:rPr lang="en-GB" dirty="0"/>
              <a:t>POS terminal/tablet</a:t>
            </a:r>
          </a:p>
          <a:p>
            <a:pPr>
              <a:buFont typeface="Arial" panose="020B0604020202020204" pitchFamily="34" charset="0"/>
              <a:buChar char="•"/>
            </a:pPr>
            <a:r>
              <a:rPr lang="en-GB" dirty="0"/>
              <a:t>Receipt printer</a:t>
            </a:r>
          </a:p>
          <a:p>
            <a:pPr>
              <a:buFont typeface="Arial" panose="020B0604020202020204" pitchFamily="34" charset="0"/>
              <a:buChar char="•"/>
            </a:pPr>
            <a:r>
              <a:rPr lang="en-GB" dirty="0"/>
              <a:t>Cash drawer</a:t>
            </a:r>
          </a:p>
          <a:p>
            <a:pPr>
              <a:buFont typeface="Arial" panose="020B0604020202020204" pitchFamily="34" charset="0"/>
              <a:buChar char="•"/>
            </a:pPr>
            <a:r>
              <a:rPr lang="en-GB" dirty="0"/>
              <a:t>Software subscription</a:t>
            </a:r>
          </a:p>
          <a:p>
            <a:pPr>
              <a:buFont typeface="Arial" panose="020B0604020202020204" pitchFamily="34" charset="0"/>
              <a:buChar char="•"/>
            </a:pPr>
            <a:r>
              <a:rPr lang="en-GB" dirty="0"/>
              <a:t>Installation/setup</a:t>
            </a:r>
          </a:p>
          <a:p>
            <a:r>
              <a:rPr lang="en-GB" b="1" dirty="0"/>
              <a:t>Conclusion:</a:t>
            </a:r>
            <a:r>
              <a:rPr lang="en-GB" dirty="0"/>
              <a:t> Investment justified by long-term efficiency and revenue optimization.</a:t>
            </a:r>
          </a:p>
          <a:p>
            <a:endParaRPr lang="en-US" dirty="0"/>
          </a:p>
        </p:txBody>
      </p:sp>
    </p:spTree>
    <p:extLst>
      <p:ext uri="{BB962C8B-B14F-4D97-AF65-F5344CB8AC3E}">
        <p14:creationId xmlns:p14="http://schemas.microsoft.com/office/powerpoint/2010/main" val="40660187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F9FCA0-6A4E-E35E-804D-0034FE974CDD}"/>
              </a:ext>
            </a:extLst>
          </p:cNvPr>
          <p:cNvSpPr>
            <a:spLocks noGrp="1"/>
          </p:cNvSpPr>
          <p:nvPr>
            <p:ph type="title"/>
          </p:nvPr>
        </p:nvSpPr>
        <p:spPr/>
        <p:txBody>
          <a:bodyPr/>
          <a:lstStyle/>
          <a:p>
            <a:r>
              <a:rPr lang="en-US" dirty="0"/>
              <a:t>CONTINUITION OF FEASIBILITY STUDY</a:t>
            </a:r>
          </a:p>
        </p:txBody>
      </p:sp>
      <p:sp>
        <p:nvSpPr>
          <p:cNvPr id="3" name="Content Placeholder 2">
            <a:extLst>
              <a:ext uri="{FF2B5EF4-FFF2-40B4-BE49-F238E27FC236}">
                <a16:creationId xmlns:a16="http://schemas.microsoft.com/office/drawing/2014/main" id="{0107B8D5-2C60-F863-C1E4-E7AB24CD29C6}"/>
              </a:ext>
            </a:extLst>
          </p:cNvPr>
          <p:cNvSpPr>
            <a:spLocks noGrp="1"/>
          </p:cNvSpPr>
          <p:nvPr>
            <p:ph idx="1"/>
          </p:nvPr>
        </p:nvSpPr>
        <p:spPr/>
        <p:txBody>
          <a:bodyPr/>
          <a:lstStyle/>
          <a:p>
            <a:r>
              <a:rPr lang="en-GB" b="1" dirty="0"/>
              <a:t>Legal &amp; Compliance Feasibility</a:t>
            </a:r>
          </a:p>
          <a:p>
            <a:pPr>
              <a:buFont typeface="Arial" panose="020B0604020202020204" pitchFamily="34" charset="0"/>
              <a:buChar char="•"/>
            </a:pPr>
            <a:r>
              <a:rPr lang="en-GB" dirty="0"/>
              <a:t>PCI-DSS compliance for card payments</a:t>
            </a:r>
          </a:p>
          <a:p>
            <a:pPr>
              <a:buFont typeface="Arial" panose="020B0604020202020204" pitchFamily="34" charset="0"/>
              <a:buChar char="•"/>
            </a:pPr>
            <a:r>
              <a:rPr lang="en-GB" dirty="0"/>
              <a:t>Data privacy compliance (customer data)</a:t>
            </a:r>
          </a:p>
          <a:p>
            <a:pPr>
              <a:buFont typeface="Arial" panose="020B0604020202020204" pitchFamily="34" charset="0"/>
              <a:buChar char="•"/>
            </a:pPr>
            <a:r>
              <a:rPr lang="en-GB" dirty="0"/>
              <a:t>Tax reporting compliance</a:t>
            </a:r>
          </a:p>
          <a:p>
            <a:r>
              <a:rPr lang="en-GB" b="1" dirty="0"/>
              <a:t>Conclusion:</a:t>
            </a:r>
            <a:r>
              <a:rPr lang="en-GB" dirty="0"/>
              <a:t> Feasible if compliant POS provider is selected.</a:t>
            </a:r>
          </a:p>
          <a:p>
            <a:endParaRPr lang="en-US" dirty="0"/>
          </a:p>
        </p:txBody>
      </p:sp>
    </p:spTree>
    <p:extLst>
      <p:ext uri="{BB962C8B-B14F-4D97-AF65-F5344CB8AC3E}">
        <p14:creationId xmlns:p14="http://schemas.microsoft.com/office/powerpoint/2010/main" val="3499488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ITERATION PLAN</a:t>
            </a:r>
          </a:p>
        </p:txBody>
      </p:sp>
      <p:sp>
        <p:nvSpPr>
          <p:cNvPr id="3" name="Content Placeholder 2"/>
          <p:cNvSpPr>
            <a:spLocks noGrp="1"/>
          </p:cNvSpPr>
          <p:nvPr>
            <p:ph idx="1"/>
          </p:nvPr>
        </p:nvSpPr>
        <p:spPr/>
        <p:txBody>
          <a:bodyPr>
            <a:normAutofit fontScale="92500"/>
          </a:bodyPr>
          <a:lstStyle/>
          <a:p>
            <a:r>
              <a:rPr dirty="0"/>
              <a:t>Inception</a:t>
            </a:r>
            <a:r>
              <a:rPr lang="en-US" dirty="0"/>
              <a:t>-</a:t>
            </a:r>
          </a:p>
          <a:p>
            <a:pPr>
              <a:buFont typeface="Wingdings" panose="05000000000000000000" pitchFamily="2" charset="2"/>
              <a:buChar char="§"/>
            </a:pPr>
            <a:r>
              <a:rPr lang="en-US" dirty="0"/>
              <a:t>Vision and Feasibility</a:t>
            </a:r>
            <a:endParaRPr dirty="0"/>
          </a:p>
          <a:p>
            <a:r>
              <a:rPr dirty="0"/>
              <a:t>Elaboration</a:t>
            </a:r>
            <a:endParaRPr lang="en-US" dirty="0"/>
          </a:p>
          <a:p>
            <a:pPr>
              <a:buFont typeface="Wingdings" panose="05000000000000000000" pitchFamily="2" charset="2"/>
              <a:buChar char="§"/>
            </a:pPr>
            <a:r>
              <a:rPr lang="en-US" dirty="0"/>
              <a:t>Iteration 1- Core Architecture and Requirements</a:t>
            </a:r>
          </a:p>
          <a:p>
            <a:pPr>
              <a:buFont typeface="Wingdings" panose="05000000000000000000" pitchFamily="2" charset="2"/>
              <a:buChar char="§"/>
            </a:pPr>
            <a:r>
              <a:rPr lang="en-US" dirty="0"/>
              <a:t>Iteration 2- Risk- Driven Design</a:t>
            </a:r>
            <a:endParaRPr dirty="0"/>
          </a:p>
          <a:p>
            <a:r>
              <a:rPr dirty="0"/>
              <a:t>Construction</a:t>
            </a:r>
            <a:r>
              <a:rPr lang="en-US" dirty="0"/>
              <a:t> </a:t>
            </a:r>
          </a:p>
          <a:p>
            <a:pPr>
              <a:buFont typeface="Wingdings" panose="05000000000000000000" pitchFamily="2" charset="2"/>
              <a:buChar char="§"/>
            </a:pPr>
            <a:r>
              <a:rPr lang="en-US" dirty="0"/>
              <a:t>Iteration 1:Feature Implementation</a:t>
            </a:r>
          </a:p>
          <a:p>
            <a:pPr>
              <a:buFont typeface="Wingdings" panose="05000000000000000000" pitchFamily="2" charset="2"/>
              <a:buChar char="§"/>
            </a:pPr>
            <a:r>
              <a:rPr lang="en-US" dirty="0"/>
              <a:t>Iteration 2: Polishing and Deployment Preparations</a:t>
            </a:r>
            <a:endParaRPr dirty="0"/>
          </a:p>
          <a:p>
            <a:r>
              <a:rPr dirty="0"/>
              <a:t>Transition</a:t>
            </a:r>
            <a:endParaRPr lang="en-US" dirty="0"/>
          </a:p>
          <a:p>
            <a:pPr>
              <a:buFont typeface="Wingdings" panose="05000000000000000000" pitchFamily="2" charset="2"/>
              <a:buChar char="§"/>
            </a:pPr>
            <a:r>
              <a:rPr lang="en-US" dirty="0"/>
              <a:t>Demonstration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6858000"/>
          </a:xfrm>
          <a:prstGeom prst="rect">
            <a:avLst/>
          </a:prstGeom>
          <a:solidFill>
            <a:srgbClr val="0A2453"/>
          </a:solidFill>
          <a:ln>
            <a:solidFill>
              <a:srgbClr val="0A245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64592" cy="6858000"/>
          </a:xfrm>
          <a:prstGeom prst="rect">
            <a:avLst/>
          </a:prstGeom>
          <a:solidFill>
            <a:srgbClr val="EFB13F"/>
          </a:solidFill>
          <a:ln>
            <a:solidFill>
              <a:srgbClr val="EFB13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8942832" y="0"/>
            <a:ext cx="201168" cy="6858000"/>
          </a:xfrm>
          <a:prstGeom prst="rect">
            <a:avLst/>
          </a:prstGeom>
          <a:solidFill>
            <a:srgbClr val="008F7A"/>
          </a:solidFill>
          <a:ln>
            <a:solidFill>
              <a:srgbClr val="008F7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685800" y="960120"/>
            <a:ext cx="2103120" cy="310896"/>
          </a:xfrm>
          <a:prstGeom prst="roundRect">
            <a:avLst>
              <a:gd name="adj" fmla="val 12000"/>
            </a:avLst>
          </a:prstGeom>
          <a:solidFill>
            <a:srgbClr val="FFF6DC"/>
          </a:solidFill>
          <a:ln>
            <a:solidFill>
              <a:srgbClr val="FFF6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58952" y="969264"/>
            <a:ext cx="1956815" cy="274320"/>
          </a:xfrm>
          <a:prstGeom prst="rect">
            <a:avLst/>
          </a:prstGeom>
          <a:noFill/>
        </p:spPr>
        <p:txBody>
          <a:bodyPr wrap="square" anchor="ctr">
            <a:spAutoFit/>
          </a:bodyPr>
          <a:lstStyle/>
          <a:p>
            <a:pPr algn="ctr"/>
            <a:r>
              <a:rPr sz="900" b="1">
                <a:solidFill>
                  <a:srgbClr val="0A2453"/>
                </a:solidFill>
                <a:latin typeface="Aptos"/>
              </a:rPr>
              <a:t>ELABORATION • ITERATION 1</a:t>
            </a:r>
          </a:p>
        </p:txBody>
      </p:sp>
      <p:sp>
        <p:nvSpPr>
          <p:cNvPr id="7" name="TextBox 6"/>
          <p:cNvSpPr txBox="1"/>
          <p:nvPr/>
        </p:nvSpPr>
        <p:spPr>
          <a:xfrm>
            <a:off x="685800" y="1508760"/>
            <a:ext cx="6675120" cy="1325880"/>
          </a:xfrm>
          <a:prstGeom prst="rect">
            <a:avLst/>
          </a:prstGeom>
          <a:noFill/>
        </p:spPr>
        <p:txBody>
          <a:bodyPr wrap="square" anchor="t">
            <a:spAutoFit/>
          </a:bodyPr>
          <a:lstStyle/>
          <a:p>
            <a:pPr algn="l"/>
            <a:r>
              <a:rPr sz="3400" b="1">
                <a:solidFill>
                  <a:srgbClr val="FFFFFF"/>
                </a:solidFill>
                <a:latin typeface="Aptos"/>
              </a:rPr>
              <a:t>FROM VISION TO
SYSTEM DESIGN</a:t>
            </a:r>
          </a:p>
        </p:txBody>
      </p:sp>
      <p:sp>
        <p:nvSpPr>
          <p:cNvPr id="8" name="TextBox 7"/>
          <p:cNvSpPr txBox="1"/>
          <p:nvPr/>
        </p:nvSpPr>
        <p:spPr>
          <a:xfrm>
            <a:off x="713232" y="3063240"/>
            <a:ext cx="6217920" cy="411480"/>
          </a:xfrm>
          <a:prstGeom prst="rect">
            <a:avLst/>
          </a:prstGeom>
          <a:noFill/>
        </p:spPr>
        <p:txBody>
          <a:bodyPr wrap="square" anchor="ctr">
            <a:spAutoFit/>
          </a:bodyPr>
          <a:lstStyle/>
          <a:p>
            <a:pPr algn="l"/>
            <a:r>
              <a:rPr sz="1600" b="0">
                <a:solidFill>
                  <a:srgbClr val="CEDDF0"/>
                </a:solidFill>
                <a:latin typeface="Aptos"/>
              </a:rPr>
              <a:t>Domain model • expanded use cases • interaction sequence</a:t>
            </a:r>
          </a:p>
        </p:txBody>
      </p:sp>
      <p:sp>
        <p:nvSpPr>
          <p:cNvPr id="9" name="Rounded Rectangle 8"/>
          <p:cNvSpPr/>
          <p:nvPr/>
        </p:nvSpPr>
        <p:spPr>
          <a:xfrm>
            <a:off x="713232" y="3977639"/>
            <a:ext cx="6629400" cy="1143000"/>
          </a:xfrm>
          <a:prstGeom prst="roundRect">
            <a:avLst>
              <a:gd name="adj" fmla="val 12000"/>
            </a:avLst>
          </a:prstGeom>
          <a:solidFill>
            <a:srgbClr val="123265"/>
          </a:solidFill>
          <a:ln>
            <a:solidFill>
              <a:srgbClr val="12326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60120" y="4160520"/>
            <a:ext cx="685800" cy="228600"/>
          </a:xfrm>
          <a:prstGeom prst="rect">
            <a:avLst/>
          </a:prstGeom>
          <a:noFill/>
        </p:spPr>
        <p:txBody>
          <a:bodyPr wrap="square" anchor="ctr">
            <a:spAutoFit/>
          </a:bodyPr>
          <a:lstStyle/>
          <a:p>
            <a:pPr algn="l"/>
            <a:r>
              <a:rPr sz="1000" b="1">
                <a:solidFill>
                  <a:srgbClr val="EFB13F"/>
                </a:solidFill>
                <a:latin typeface="Aptos"/>
              </a:rPr>
              <a:t>Goal</a:t>
            </a:r>
          </a:p>
        </p:txBody>
      </p:sp>
      <p:sp>
        <p:nvSpPr>
          <p:cNvPr id="11" name="TextBox 10"/>
          <p:cNvSpPr txBox="1"/>
          <p:nvPr/>
        </p:nvSpPr>
        <p:spPr>
          <a:xfrm>
            <a:off x="960120" y="4443984"/>
            <a:ext cx="5989320" cy="457200"/>
          </a:xfrm>
          <a:prstGeom prst="rect">
            <a:avLst/>
          </a:prstGeom>
          <a:noFill/>
        </p:spPr>
        <p:txBody>
          <a:bodyPr wrap="square" anchor="t">
            <a:spAutoFit/>
          </a:bodyPr>
          <a:lstStyle/>
          <a:p>
            <a:pPr algn="l"/>
            <a:r>
              <a:rPr sz="1400" b="0">
                <a:solidFill>
                  <a:srgbClr val="FFFFFF"/>
                </a:solidFill>
                <a:latin typeface="Aptos"/>
              </a:rPr>
              <a:t>Translate the café’s business requirements into clear conceptual classes and complete user interactions.</a:t>
            </a:r>
          </a:p>
        </p:txBody>
      </p:sp>
      <p:sp>
        <p:nvSpPr>
          <p:cNvPr id="12" name="TextBox 11"/>
          <p:cNvSpPr txBox="1"/>
          <p:nvPr/>
        </p:nvSpPr>
        <p:spPr>
          <a:xfrm>
            <a:off x="713232" y="6217920"/>
            <a:ext cx="4114800" cy="228600"/>
          </a:xfrm>
          <a:prstGeom prst="rect">
            <a:avLst/>
          </a:prstGeom>
          <a:noFill/>
        </p:spPr>
        <p:txBody>
          <a:bodyPr wrap="square" anchor="ctr">
            <a:spAutoFit/>
          </a:bodyPr>
          <a:lstStyle/>
          <a:p>
            <a:pPr algn="l"/>
            <a:r>
              <a:rPr sz="900" b="1">
                <a:solidFill>
                  <a:srgbClr val="A0B9DA"/>
                </a:solidFill>
                <a:latin typeface="Aptos"/>
              </a:rPr>
              <a:t>GROUP 10 • CAFÉ POINT OF SALE SYSTEM</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6858000"/>
          </a:xfrm>
          <a:prstGeom prst="rect">
            <a:avLst/>
          </a:prstGeom>
          <a:solidFill>
            <a:srgbClr val="F6F9FC"/>
          </a:solidFill>
          <a:ln>
            <a:solidFill>
              <a:srgbClr val="F6F9F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9144000" cy="109728"/>
          </a:xfrm>
          <a:prstGeom prst="rect">
            <a:avLst/>
          </a:prstGeom>
          <a:solidFill>
            <a:srgbClr val="0A2453"/>
          </a:solidFill>
          <a:ln>
            <a:solidFill>
              <a:srgbClr val="0A245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56032"/>
            <a:ext cx="8138160" cy="411480"/>
          </a:xfrm>
          <a:prstGeom prst="rect">
            <a:avLst/>
          </a:prstGeom>
          <a:noFill/>
        </p:spPr>
        <p:txBody>
          <a:bodyPr wrap="square" anchor="ctr">
            <a:spAutoFit/>
          </a:bodyPr>
          <a:lstStyle/>
          <a:p>
            <a:pPr algn="l"/>
            <a:r>
              <a:rPr sz="2300" b="1">
                <a:solidFill>
                  <a:srgbClr val="0A2453"/>
                </a:solidFill>
                <a:latin typeface="Aptos"/>
              </a:rPr>
              <a:t>DOMAIN MODEL</a:t>
            </a:r>
          </a:p>
        </p:txBody>
      </p:sp>
      <p:sp>
        <p:nvSpPr>
          <p:cNvPr id="5" name="TextBox 4"/>
          <p:cNvSpPr txBox="1"/>
          <p:nvPr/>
        </p:nvSpPr>
        <p:spPr>
          <a:xfrm>
            <a:off x="521207" y="685800"/>
            <a:ext cx="8101583" cy="256032"/>
          </a:xfrm>
          <a:prstGeom prst="rect">
            <a:avLst/>
          </a:prstGeom>
          <a:noFill/>
        </p:spPr>
        <p:txBody>
          <a:bodyPr wrap="square" anchor="ctr">
            <a:spAutoFit/>
          </a:bodyPr>
          <a:lstStyle/>
          <a:p>
            <a:pPr algn="l"/>
            <a:r>
              <a:rPr sz="950" b="0">
                <a:solidFill>
                  <a:srgbClr val="5C697A"/>
                </a:solidFill>
                <a:latin typeface="Aptos"/>
              </a:rPr>
              <a:t>Conceptual classes and business relationships</a:t>
            </a:r>
          </a:p>
        </p:txBody>
      </p:sp>
      <p:sp>
        <p:nvSpPr>
          <p:cNvPr id="6" name="Rectangle 5"/>
          <p:cNvSpPr/>
          <p:nvPr/>
        </p:nvSpPr>
        <p:spPr>
          <a:xfrm>
            <a:off x="502920" y="987552"/>
            <a:ext cx="685800" cy="36576"/>
          </a:xfrm>
          <a:prstGeom prst="rect">
            <a:avLst/>
          </a:prstGeom>
          <a:solidFill>
            <a:srgbClr val="EFB13F"/>
          </a:solidFill>
          <a:ln>
            <a:solidFill>
              <a:srgbClr val="EFB13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458200" y="6510528"/>
            <a:ext cx="320040" cy="182880"/>
          </a:xfrm>
          <a:prstGeom prst="rect">
            <a:avLst/>
          </a:prstGeom>
          <a:noFill/>
        </p:spPr>
        <p:txBody>
          <a:bodyPr wrap="square" anchor="ctr">
            <a:spAutoFit/>
          </a:bodyPr>
          <a:lstStyle/>
          <a:p>
            <a:pPr algn="r"/>
            <a:r>
              <a:rPr sz="900" b="1">
                <a:solidFill>
                  <a:srgbClr val="5C697A"/>
                </a:solidFill>
                <a:latin typeface="Aptos"/>
              </a:rPr>
              <a:t>14</a:t>
            </a:r>
          </a:p>
        </p:txBody>
      </p:sp>
      <p:sp>
        <p:nvSpPr>
          <p:cNvPr id="8" name="TextBox 7"/>
          <p:cNvSpPr txBox="1"/>
          <p:nvPr/>
        </p:nvSpPr>
        <p:spPr>
          <a:xfrm>
            <a:off x="502920" y="6510528"/>
            <a:ext cx="2011680" cy="182880"/>
          </a:xfrm>
          <a:prstGeom prst="rect">
            <a:avLst/>
          </a:prstGeom>
          <a:noFill/>
        </p:spPr>
        <p:txBody>
          <a:bodyPr wrap="square" anchor="ctr">
            <a:spAutoFit/>
          </a:bodyPr>
          <a:lstStyle/>
          <a:p>
            <a:pPr algn="l"/>
            <a:r>
              <a:rPr sz="800" b="1">
                <a:solidFill>
                  <a:srgbClr val="5C697A"/>
                </a:solidFill>
                <a:latin typeface="Aptos"/>
              </a:rPr>
              <a:t>GROUP 10 • CAFÉ POS</a:t>
            </a:r>
          </a:p>
        </p:txBody>
      </p:sp>
      <p:pic>
        <p:nvPicPr>
          <p:cNvPr id="9" name="Picture 8" descr="IMG-20260907-WA0008.jpg"/>
          <p:cNvPicPr>
            <a:picLocks noChangeAspect="1"/>
          </p:cNvPicPr>
          <p:nvPr/>
        </p:nvPicPr>
        <p:blipFill>
          <a:blip r:embed="rId2"/>
          <a:stretch>
            <a:fillRect/>
          </a:stretch>
        </p:blipFill>
        <p:spPr>
          <a:xfrm>
            <a:off x="566928" y="1170432"/>
            <a:ext cx="8010144" cy="5340096"/>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6858000"/>
          </a:xfrm>
          <a:prstGeom prst="rect">
            <a:avLst/>
          </a:prstGeom>
          <a:solidFill>
            <a:srgbClr val="F6F9FC"/>
          </a:solidFill>
          <a:ln>
            <a:solidFill>
              <a:srgbClr val="F6F9F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9144000" cy="109728"/>
          </a:xfrm>
          <a:prstGeom prst="rect">
            <a:avLst/>
          </a:prstGeom>
          <a:solidFill>
            <a:srgbClr val="0A2453"/>
          </a:solidFill>
          <a:ln>
            <a:solidFill>
              <a:srgbClr val="0A245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56032"/>
            <a:ext cx="8138160" cy="411480"/>
          </a:xfrm>
          <a:prstGeom prst="rect">
            <a:avLst/>
          </a:prstGeom>
          <a:noFill/>
        </p:spPr>
        <p:txBody>
          <a:bodyPr wrap="square" anchor="ctr">
            <a:spAutoFit/>
          </a:bodyPr>
          <a:lstStyle/>
          <a:p>
            <a:pPr algn="l"/>
            <a:r>
              <a:rPr sz="2300" b="1">
                <a:solidFill>
                  <a:srgbClr val="0A2453"/>
                </a:solidFill>
                <a:latin typeface="Aptos"/>
              </a:rPr>
              <a:t>EXPANDED USE CASES</a:t>
            </a:r>
          </a:p>
        </p:txBody>
      </p:sp>
      <p:sp>
        <p:nvSpPr>
          <p:cNvPr id="5" name="TextBox 4"/>
          <p:cNvSpPr txBox="1"/>
          <p:nvPr/>
        </p:nvSpPr>
        <p:spPr>
          <a:xfrm>
            <a:off x="521207" y="685800"/>
            <a:ext cx="8101583" cy="256032"/>
          </a:xfrm>
          <a:prstGeom prst="rect">
            <a:avLst/>
          </a:prstGeom>
          <a:noFill/>
        </p:spPr>
        <p:txBody>
          <a:bodyPr wrap="square" anchor="ctr">
            <a:spAutoFit/>
          </a:bodyPr>
          <a:lstStyle/>
          <a:p>
            <a:pPr algn="l"/>
            <a:r>
              <a:rPr sz="950" b="0">
                <a:solidFill>
                  <a:srgbClr val="5C697A"/>
                </a:solidFill>
                <a:latin typeface="Aptos"/>
              </a:rPr>
              <a:t>Beyond the 10% presented during Inception</a:t>
            </a:r>
          </a:p>
        </p:txBody>
      </p:sp>
      <p:sp>
        <p:nvSpPr>
          <p:cNvPr id="6" name="Rectangle 5"/>
          <p:cNvSpPr/>
          <p:nvPr/>
        </p:nvSpPr>
        <p:spPr>
          <a:xfrm>
            <a:off x="502920" y="987552"/>
            <a:ext cx="685800" cy="36576"/>
          </a:xfrm>
          <a:prstGeom prst="rect">
            <a:avLst/>
          </a:prstGeom>
          <a:solidFill>
            <a:srgbClr val="EFB13F"/>
          </a:solidFill>
          <a:ln>
            <a:solidFill>
              <a:srgbClr val="EFB13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458200" y="6510528"/>
            <a:ext cx="320040" cy="182880"/>
          </a:xfrm>
          <a:prstGeom prst="rect">
            <a:avLst/>
          </a:prstGeom>
          <a:noFill/>
        </p:spPr>
        <p:txBody>
          <a:bodyPr wrap="square" anchor="ctr">
            <a:spAutoFit/>
          </a:bodyPr>
          <a:lstStyle/>
          <a:p>
            <a:pPr algn="r"/>
            <a:r>
              <a:rPr sz="900" b="1">
                <a:solidFill>
                  <a:srgbClr val="5C697A"/>
                </a:solidFill>
                <a:latin typeface="Aptos"/>
              </a:rPr>
              <a:t>15</a:t>
            </a:r>
          </a:p>
        </p:txBody>
      </p:sp>
      <p:sp>
        <p:nvSpPr>
          <p:cNvPr id="8" name="TextBox 7"/>
          <p:cNvSpPr txBox="1"/>
          <p:nvPr/>
        </p:nvSpPr>
        <p:spPr>
          <a:xfrm>
            <a:off x="502920" y="6510528"/>
            <a:ext cx="2011680" cy="182880"/>
          </a:xfrm>
          <a:prstGeom prst="rect">
            <a:avLst/>
          </a:prstGeom>
          <a:noFill/>
        </p:spPr>
        <p:txBody>
          <a:bodyPr wrap="square" anchor="ctr">
            <a:spAutoFit/>
          </a:bodyPr>
          <a:lstStyle/>
          <a:p>
            <a:pPr algn="l"/>
            <a:r>
              <a:rPr sz="800" b="1">
                <a:solidFill>
                  <a:srgbClr val="5C697A"/>
                </a:solidFill>
                <a:latin typeface="Aptos"/>
              </a:rPr>
              <a:t>GROUP 10 • CAFÉ POS</a:t>
            </a:r>
          </a:p>
        </p:txBody>
      </p:sp>
      <p:sp>
        <p:nvSpPr>
          <p:cNvPr id="9" name="Rounded Rectangle 8"/>
          <p:cNvSpPr/>
          <p:nvPr/>
        </p:nvSpPr>
        <p:spPr>
          <a:xfrm>
            <a:off x="548640" y="1188720"/>
            <a:ext cx="1051560" cy="310896"/>
          </a:xfrm>
          <a:prstGeom prst="roundRect">
            <a:avLst>
              <a:gd name="adj" fmla="val 12000"/>
            </a:avLst>
          </a:prstGeom>
          <a:solidFill>
            <a:srgbClr val="E4EFFA"/>
          </a:solidFill>
          <a:ln>
            <a:solidFill>
              <a:srgbClr val="E4EFF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21792" y="1197864"/>
            <a:ext cx="905255" cy="274320"/>
          </a:xfrm>
          <a:prstGeom prst="rect">
            <a:avLst/>
          </a:prstGeom>
          <a:noFill/>
        </p:spPr>
        <p:txBody>
          <a:bodyPr wrap="square" anchor="ctr">
            <a:spAutoFit/>
          </a:bodyPr>
          <a:lstStyle/>
          <a:p>
            <a:pPr algn="ctr"/>
            <a:r>
              <a:rPr sz="900" b="1">
                <a:solidFill>
                  <a:srgbClr val="184C8A"/>
                </a:solidFill>
                <a:latin typeface="Aptos"/>
              </a:rPr>
              <a:t>CASHIER</a:t>
            </a:r>
          </a:p>
        </p:txBody>
      </p:sp>
      <p:sp>
        <p:nvSpPr>
          <p:cNvPr id="11" name="Rounded Rectangle 10"/>
          <p:cNvSpPr/>
          <p:nvPr/>
        </p:nvSpPr>
        <p:spPr>
          <a:xfrm>
            <a:off x="4709160" y="1188720"/>
            <a:ext cx="1097280" cy="310896"/>
          </a:xfrm>
          <a:prstGeom prst="roundRect">
            <a:avLst>
              <a:gd name="adj" fmla="val 12000"/>
            </a:avLst>
          </a:prstGeom>
          <a:solidFill>
            <a:srgbClr val="E1F7F2"/>
          </a:solidFill>
          <a:ln>
            <a:solidFill>
              <a:srgbClr val="E1F7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782312" y="1197864"/>
            <a:ext cx="950976" cy="274320"/>
          </a:xfrm>
          <a:prstGeom prst="rect">
            <a:avLst/>
          </a:prstGeom>
          <a:noFill/>
        </p:spPr>
        <p:txBody>
          <a:bodyPr wrap="square" anchor="ctr">
            <a:spAutoFit/>
          </a:bodyPr>
          <a:lstStyle/>
          <a:p>
            <a:pPr algn="ctr"/>
            <a:r>
              <a:rPr sz="900" b="1">
                <a:solidFill>
                  <a:srgbClr val="008F7A"/>
                </a:solidFill>
                <a:latin typeface="Aptos"/>
              </a:rPr>
              <a:t>MANAGER</a:t>
            </a:r>
          </a:p>
        </p:txBody>
      </p:sp>
      <p:sp>
        <p:nvSpPr>
          <p:cNvPr id="13" name="Rounded Rectangle 12"/>
          <p:cNvSpPr/>
          <p:nvPr/>
        </p:nvSpPr>
        <p:spPr>
          <a:xfrm>
            <a:off x="548640" y="1600200"/>
            <a:ext cx="3794760" cy="960120"/>
          </a:xfrm>
          <a:prstGeom prst="roundRect">
            <a:avLst>
              <a:gd name="adj" fmla="val 12000"/>
            </a:avLst>
          </a:prstGeom>
          <a:solidFill>
            <a:srgbClr val="FFFFFF"/>
          </a:solidFill>
          <a:ln>
            <a:solidFill>
              <a:srgbClr val="DD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548640" y="1600200"/>
            <a:ext cx="64008" cy="960120"/>
          </a:xfrm>
          <a:prstGeom prst="roundRect">
            <a:avLst>
              <a:gd name="adj" fmla="val 12000"/>
            </a:avLst>
          </a:prstGeom>
          <a:solidFill>
            <a:srgbClr val="184C8A"/>
          </a:solidFill>
          <a:ln>
            <a:solidFill>
              <a:srgbClr val="184C8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31520" y="1728216"/>
            <a:ext cx="3474720" cy="320040"/>
          </a:xfrm>
          <a:prstGeom prst="rect">
            <a:avLst/>
          </a:prstGeom>
          <a:noFill/>
        </p:spPr>
        <p:txBody>
          <a:bodyPr wrap="square" anchor="ctr">
            <a:spAutoFit/>
          </a:bodyPr>
          <a:lstStyle/>
          <a:p>
            <a:pPr algn="l"/>
            <a:r>
              <a:rPr sz="1300" b="1">
                <a:solidFill>
                  <a:srgbClr val="0A2453"/>
                </a:solidFill>
                <a:latin typeface="Aptos"/>
              </a:rPr>
              <a:t>UC06 • Browse Menu</a:t>
            </a:r>
          </a:p>
        </p:txBody>
      </p:sp>
      <p:sp>
        <p:nvSpPr>
          <p:cNvPr id="16" name="TextBox 15"/>
          <p:cNvSpPr txBox="1"/>
          <p:nvPr/>
        </p:nvSpPr>
        <p:spPr>
          <a:xfrm>
            <a:off x="731520" y="2103120"/>
            <a:ext cx="3429000" cy="347472"/>
          </a:xfrm>
          <a:prstGeom prst="rect">
            <a:avLst/>
          </a:prstGeom>
          <a:noFill/>
        </p:spPr>
        <p:txBody>
          <a:bodyPr wrap="square" anchor="t">
            <a:spAutoFit/>
          </a:bodyPr>
          <a:lstStyle/>
          <a:p>
            <a:pPr algn="l"/>
            <a:r>
              <a:rPr sz="1050" b="0">
                <a:solidFill>
                  <a:srgbClr val="222D3D"/>
                </a:solidFill>
                <a:latin typeface="Aptos"/>
              </a:rPr>
              <a:t>View category-based menu and item availability before building an order.</a:t>
            </a:r>
          </a:p>
        </p:txBody>
      </p:sp>
      <p:sp>
        <p:nvSpPr>
          <p:cNvPr id="17" name="Rounded Rectangle 16"/>
          <p:cNvSpPr/>
          <p:nvPr/>
        </p:nvSpPr>
        <p:spPr>
          <a:xfrm>
            <a:off x="548640" y="2743200"/>
            <a:ext cx="3794760" cy="960120"/>
          </a:xfrm>
          <a:prstGeom prst="roundRect">
            <a:avLst>
              <a:gd name="adj" fmla="val 12000"/>
            </a:avLst>
          </a:prstGeom>
          <a:solidFill>
            <a:srgbClr val="FFFFFF"/>
          </a:solidFill>
          <a:ln>
            <a:solidFill>
              <a:srgbClr val="DD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548640" y="2743200"/>
            <a:ext cx="64008" cy="960120"/>
          </a:xfrm>
          <a:prstGeom prst="roundRect">
            <a:avLst>
              <a:gd name="adj" fmla="val 12000"/>
            </a:avLst>
          </a:prstGeom>
          <a:solidFill>
            <a:srgbClr val="184C8A"/>
          </a:solidFill>
          <a:ln>
            <a:solidFill>
              <a:srgbClr val="184C8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31520" y="2871216"/>
            <a:ext cx="3474720" cy="320040"/>
          </a:xfrm>
          <a:prstGeom prst="rect">
            <a:avLst/>
          </a:prstGeom>
          <a:noFill/>
        </p:spPr>
        <p:txBody>
          <a:bodyPr wrap="square" anchor="ctr">
            <a:spAutoFit/>
          </a:bodyPr>
          <a:lstStyle/>
          <a:p>
            <a:pPr algn="l"/>
            <a:r>
              <a:rPr sz="1300" b="1">
                <a:solidFill>
                  <a:srgbClr val="0A2453"/>
                </a:solidFill>
                <a:latin typeface="Aptos"/>
              </a:rPr>
              <a:t>UC07 • Clear / Reset Order</a:t>
            </a:r>
          </a:p>
        </p:txBody>
      </p:sp>
      <p:sp>
        <p:nvSpPr>
          <p:cNvPr id="20" name="TextBox 19"/>
          <p:cNvSpPr txBox="1"/>
          <p:nvPr/>
        </p:nvSpPr>
        <p:spPr>
          <a:xfrm>
            <a:off x="731520" y="3246120"/>
            <a:ext cx="3429000" cy="347472"/>
          </a:xfrm>
          <a:prstGeom prst="rect">
            <a:avLst/>
          </a:prstGeom>
          <a:noFill/>
        </p:spPr>
        <p:txBody>
          <a:bodyPr wrap="square" anchor="t">
            <a:spAutoFit/>
          </a:bodyPr>
          <a:lstStyle/>
          <a:p>
            <a:pPr algn="l"/>
            <a:r>
              <a:rPr sz="1050" b="0">
                <a:solidFill>
                  <a:srgbClr val="222D3D"/>
                </a:solidFill>
                <a:latin typeface="Aptos"/>
              </a:rPr>
              <a:t>Remove all current line items and restart the order before submission.</a:t>
            </a:r>
          </a:p>
        </p:txBody>
      </p:sp>
      <p:sp>
        <p:nvSpPr>
          <p:cNvPr id="21" name="Rounded Rectangle 20"/>
          <p:cNvSpPr/>
          <p:nvPr/>
        </p:nvSpPr>
        <p:spPr>
          <a:xfrm>
            <a:off x="548640" y="3886200"/>
            <a:ext cx="3794760" cy="960120"/>
          </a:xfrm>
          <a:prstGeom prst="roundRect">
            <a:avLst>
              <a:gd name="adj" fmla="val 12000"/>
            </a:avLst>
          </a:prstGeom>
          <a:solidFill>
            <a:srgbClr val="FFFFFF"/>
          </a:solidFill>
          <a:ln>
            <a:solidFill>
              <a:srgbClr val="DD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548640" y="3886200"/>
            <a:ext cx="64008" cy="960120"/>
          </a:xfrm>
          <a:prstGeom prst="roundRect">
            <a:avLst>
              <a:gd name="adj" fmla="val 12000"/>
            </a:avLst>
          </a:prstGeom>
          <a:solidFill>
            <a:srgbClr val="184C8A"/>
          </a:solidFill>
          <a:ln>
            <a:solidFill>
              <a:srgbClr val="184C8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31520" y="4014215"/>
            <a:ext cx="3474720" cy="320040"/>
          </a:xfrm>
          <a:prstGeom prst="rect">
            <a:avLst/>
          </a:prstGeom>
          <a:noFill/>
        </p:spPr>
        <p:txBody>
          <a:bodyPr wrap="square" anchor="ctr">
            <a:spAutoFit/>
          </a:bodyPr>
          <a:lstStyle/>
          <a:p>
            <a:pPr algn="l"/>
            <a:r>
              <a:rPr sz="1300" b="1">
                <a:solidFill>
                  <a:srgbClr val="0A2453"/>
                </a:solidFill>
                <a:latin typeface="Aptos"/>
              </a:rPr>
              <a:t>UC08 • Collect Payment</a:t>
            </a:r>
          </a:p>
        </p:txBody>
      </p:sp>
      <p:sp>
        <p:nvSpPr>
          <p:cNvPr id="24" name="TextBox 23"/>
          <p:cNvSpPr txBox="1"/>
          <p:nvPr/>
        </p:nvSpPr>
        <p:spPr>
          <a:xfrm>
            <a:off x="731520" y="4389120"/>
            <a:ext cx="3429000" cy="347472"/>
          </a:xfrm>
          <a:prstGeom prst="rect">
            <a:avLst/>
          </a:prstGeom>
          <a:noFill/>
        </p:spPr>
        <p:txBody>
          <a:bodyPr wrap="square" anchor="t">
            <a:spAutoFit/>
          </a:bodyPr>
          <a:lstStyle/>
          <a:p>
            <a:pPr algn="l"/>
            <a:r>
              <a:rPr sz="1050" b="0">
                <a:solidFill>
                  <a:srgbClr val="222D3D"/>
                </a:solidFill>
                <a:latin typeface="Aptos"/>
              </a:rPr>
              <a:t>Record cash or card payment for an approved/completed order.</a:t>
            </a:r>
          </a:p>
        </p:txBody>
      </p:sp>
      <p:sp>
        <p:nvSpPr>
          <p:cNvPr id="25" name="Rounded Rectangle 24"/>
          <p:cNvSpPr/>
          <p:nvPr/>
        </p:nvSpPr>
        <p:spPr>
          <a:xfrm>
            <a:off x="548640" y="5029200"/>
            <a:ext cx="3794760" cy="960120"/>
          </a:xfrm>
          <a:prstGeom prst="roundRect">
            <a:avLst>
              <a:gd name="adj" fmla="val 12000"/>
            </a:avLst>
          </a:prstGeom>
          <a:solidFill>
            <a:srgbClr val="FFFFFF"/>
          </a:solidFill>
          <a:ln>
            <a:solidFill>
              <a:srgbClr val="DD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ounded Rectangle 25"/>
          <p:cNvSpPr/>
          <p:nvPr/>
        </p:nvSpPr>
        <p:spPr>
          <a:xfrm>
            <a:off x="548640" y="5029200"/>
            <a:ext cx="64008" cy="960120"/>
          </a:xfrm>
          <a:prstGeom prst="roundRect">
            <a:avLst>
              <a:gd name="adj" fmla="val 12000"/>
            </a:avLst>
          </a:prstGeom>
          <a:solidFill>
            <a:srgbClr val="184C8A"/>
          </a:solidFill>
          <a:ln>
            <a:solidFill>
              <a:srgbClr val="184C8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731520" y="5157216"/>
            <a:ext cx="3474720" cy="320040"/>
          </a:xfrm>
          <a:prstGeom prst="rect">
            <a:avLst/>
          </a:prstGeom>
          <a:noFill/>
        </p:spPr>
        <p:txBody>
          <a:bodyPr wrap="square" anchor="ctr">
            <a:spAutoFit/>
          </a:bodyPr>
          <a:lstStyle/>
          <a:p>
            <a:pPr algn="l"/>
            <a:r>
              <a:rPr sz="1300" b="1">
                <a:solidFill>
                  <a:srgbClr val="0A2453"/>
                </a:solidFill>
                <a:latin typeface="Aptos"/>
              </a:rPr>
              <a:t>UC09 • Advance Order Status</a:t>
            </a:r>
          </a:p>
        </p:txBody>
      </p:sp>
      <p:sp>
        <p:nvSpPr>
          <p:cNvPr id="28" name="TextBox 27"/>
          <p:cNvSpPr txBox="1"/>
          <p:nvPr/>
        </p:nvSpPr>
        <p:spPr>
          <a:xfrm>
            <a:off x="731520" y="5532120"/>
            <a:ext cx="3429000" cy="347472"/>
          </a:xfrm>
          <a:prstGeom prst="rect">
            <a:avLst/>
          </a:prstGeom>
          <a:noFill/>
        </p:spPr>
        <p:txBody>
          <a:bodyPr wrap="square" anchor="t">
            <a:spAutoFit/>
          </a:bodyPr>
          <a:lstStyle/>
          <a:p>
            <a:pPr algn="l"/>
            <a:r>
              <a:rPr sz="1050" b="0">
                <a:solidFill>
                  <a:srgbClr val="222D3D"/>
                </a:solidFill>
                <a:latin typeface="Aptos"/>
              </a:rPr>
              <a:t>Move an order through the permitted service states after payment.</a:t>
            </a:r>
          </a:p>
        </p:txBody>
      </p:sp>
      <p:sp>
        <p:nvSpPr>
          <p:cNvPr id="29" name="Rounded Rectangle 28"/>
          <p:cNvSpPr/>
          <p:nvPr/>
        </p:nvSpPr>
        <p:spPr>
          <a:xfrm>
            <a:off x="4709160" y="1600200"/>
            <a:ext cx="3794760" cy="960120"/>
          </a:xfrm>
          <a:prstGeom prst="roundRect">
            <a:avLst>
              <a:gd name="adj" fmla="val 12000"/>
            </a:avLst>
          </a:prstGeom>
          <a:solidFill>
            <a:srgbClr val="FFFFFF"/>
          </a:solidFill>
          <a:ln>
            <a:solidFill>
              <a:srgbClr val="DD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ounded Rectangle 29"/>
          <p:cNvSpPr/>
          <p:nvPr/>
        </p:nvSpPr>
        <p:spPr>
          <a:xfrm>
            <a:off x="4709160" y="1600200"/>
            <a:ext cx="64008" cy="960120"/>
          </a:xfrm>
          <a:prstGeom prst="roundRect">
            <a:avLst>
              <a:gd name="adj" fmla="val 12000"/>
            </a:avLst>
          </a:prstGeom>
          <a:solidFill>
            <a:srgbClr val="008F7A"/>
          </a:solidFill>
          <a:ln>
            <a:solidFill>
              <a:srgbClr val="008F7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892040" y="1728216"/>
            <a:ext cx="3474720" cy="320040"/>
          </a:xfrm>
          <a:prstGeom prst="rect">
            <a:avLst/>
          </a:prstGeom>
          <a:noFill/>
        </p:spPr>
        <p:txBody>
          <a:bodyPr wrap="square" anchor="ctr">
            <a:spAutoFit/>
          </a:bodyPr>
          <a:lstStyle/>
          <a:p>
            <a:pPr algn="l"/>
            <a:r>
              <a:rPr sz="1300" b="1">
                <a:solidFill>
                  <a:srgbClr val="0A2453"/>
                </a:solidFill>
                <a:latin typeface="Aptos"/>
              </a:rPr>
              <a:t>UC10 • Manage Menu</a:t>
            </a:r>
          </a:p>
        </p:txBody>
      </p:sp>
      <p:sp>
        <p:nvSpPr>
          <p:cNvPr id="32" name="TextBox 31"/>
          <p:cNvSpPr txBox="1"/>
          <p:nvPr/>
        </p:nvSpPr>
        <p:spPr>
          <a:xfrm>
            <a:off x="4892040" y="2103120"/>
            <a:ext cx="3429000" cy="347472"/>
          </a:xfrm>
          <a:prstGeom prst="rect">
            <a:avLst/>
          </a:prstGeom>
          <a:noFill/>
        </p:spPr>
        <p:txBody>
          <a:bodyPr wrap="square" anchor="t">
            <a:spAutoFit/>
          </a:bodyPr>
          <a:lstStyle/>
          <a:p>
            <a:pPr algn="l"/>
            <a:r>
              <a:rPr sz="1050" b="0">
                <a:solidFill>
                  <a:srgbClr val="222D3D"/>
                </a:solidFill>
                <a:latin typeface="Aptos"/>
              </a:rPr>
              <a:t>Add or edit menu items, prices, descriptions and availability.</a:t>
            </a:r>
          </a:p>
        </p:txBody>
      </p:sp>
      <p:sp>
        <p:nvSpPr>
          <p:cNvPr id="33" name="Rounded Rectangle 32"/>
          <p:cNvSpPr/>
          <p:nvPr/>
        </p:nvSpPr>
        <p:spPr>
          <a:xfrm>
            <a:off x="4709160" y="2743200"/>
            <a:ext cx="3794760" cy="960120"/>
          </a:xfrm>
          <a:prstGeom prst="roundRect">
            <a:avLst>
              <a:gd name="adj" fmla="val 12000"/>
            </a:avLst>
          </a:prstGeom>
          <a:solidFill>
            <a:srgbClr val="FFFFFF"/>
          </a:solidFill>
          <a:ln>
            <a:solidFill>
              <a:srgbClr val="DD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ounded Rectangle 33"/>
          <p:cNvSpPr/>
          <p:nvPr/>
        </p:nvSpPr>
        <p:spPr>
          <a:xfrm>
            <a:off x="4709160" y="2743200"/>
            <a:ext cx="64008" cy="960120"/>
          </a:xfrm>
          <a:prstGeom prst="roundRect">
            <a:avLst>
              <a:gd name="adj" fmla="val 12000"/>
            </a:avLst>
          </a:prstGeom>
          <a:solidFill>
            <a:srgbClr val="008F7A"/>
          </a:solidFill>
          <a:ln>
            <a:solidFill>
              <a:srgbClr val="008F7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4892040" y="2871216"/>
            <a:ext cx="3474720" cy="320040"/>
          </a:xfrm>
          <a:prstGeom prst="rect">
            <a:avLst/>
          </a:prstGeom>
          <a:noFill/>
        </p:spPr>
        <p:txBody>
          <a:bodyPr wrap="square" anchor="ctr">
            <a:spAutoFit/>
          </a:bodyPr>
          <a:lstStyle/>
          <a:p>
            <a:pPr algn="l"/>
            <a:r>
              <a:rPr sz="1300" b="1">
                <a:solidFill>
                  <a:srgbClr val="0A2453"/>
                </a:solidFill>
                <a:latin typeface="Aptos"/>
              </a:rPr>
              <a:t>UC11 • Void Order</a:t>
            </a:r>
          </a:p>
        </p:txBody>
      </p:sp>
      <p:sp>
        <p:nvSpPr>
          <p:cNvPr id="36" name="TextBox 35"/>
          <p:cNvSpPr txBox="1"/>
          <p:nvPr/>
        </p:nvSpPr>
        <p:spPr>
          <a:xfrm>
            <a:off x="4892040" y="3246120"/>
            <a:ext cx="3429000" cy="347472"/>
          </a:xfrm>
          <a:prstGeom prst="rect">
            <a:avLst/>
          </a:prstGeom>
          <a:noFill/>
        </p:spPr>
        <p:txBody>
          <a:bodyPr wrap="square" anchor="t">
            <a:spAutoFit/>
          </a:bodyPr>
          <a:lstStyle/>
          <a:p>
            <a:pPr algn="l"/>
            <a:r>
              <a:rPr sz="1050" b="0">
                <a:solidFill>
                  <a:srgbClr val="222D3D"/>
                </a:solidFill>
                <a:latin typeface="Aptos"/>
              </a:rPr>
              <a:t>Cancel an eligible order and release any reserved stock.</a:t>
            </a:r>
          </a:p>
        </p:txBody>
      </p:sp>
      <p:sp>
        <p:nvSpPr>
          <p:cNvPr id="37" name="Rounded Rectangle 36"/>
          <p:cNvSpPr/>
          <p:nvPr/>
        </p:nvSpPr>
        <p:spPr>
          <a:xfrm>
            <a:off x="4709160" y="3886200"/>
            <a:ext cx="3794760" cy="960120"/>
          </a:xfrm>
          <a:prstGeom prst="roundRect">
            <a:avLst>
              <a:gd name="adj" fmla="val 12000"/>
            </a:avLst>
          </a:prstGeom>
          <a:solidFill>
            <a:srgbClr val="FFFFFF"/>
          </a:solidFill>
          <a:ln>
            <a:solidFill>
              <a:srgbClr val="DD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ounded Rectangle 37"/>
          <p:cNvSpPr/>
          <p:nvPr/>
        </p:nvSpPr>
        <p:spPr>
          <a:xfrm>
            <a:off x="4709160" y="3886200"/>
            <a:ext cx="64008" cy="960120"/>
          </a:xfrm>
          <a:prstGeom prst="roundRect">
            <a:avLst>
              <a:gd name="adj" fmla="val 12000"/>
            </a:avLst>
          </a:prstGeom>
          <a:solidFill>
            <a:srgbClr val="008F7A"/>
          </a:solidFill>
          <a:ln>
            <a:solidFill>
              <a:srgbClr val="008F7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4892040" y="4014215"/>
            <a:ext cx="3474720" cy="320040"/>
          </a:xfrm>
          <a:prstGeom prst="rect">
            <a:avLst/>
          </a:prstGeom>
          <a:noFill/>
        </p:spPr>
        <p:txBody>
          <a:bodyPr wrap="square" anchor="ctr">
            <a:spAutoFit/>
          </a:bodyPr>
          <a:lstStyle/>
          <a:p>
            <a:pPr algn="l"/>
            <a:r>
              <a:rPr sz="1300" b="1">
                <a:solidFill>
                  <a:srgbClr val="0A2453"/>
                </a:solidFill>
                <a:latin typeface="Aptos"/>
              </a:rPr>
              <a:t>UC12 • Review Refund Request</a:t>
            </a:r>
          </a:p>
        </p:txBody>
      </p:sp>
      <p:sp>
        <p:nvSpPr>
          <p:cNvPr id="40" name="TextBox 39"/>
          <p:cNvSpPr txBox="1"/>
          <p:nvPr/>
        </p:nvSpPr>
        <p:spPr>
          <a:xfrm>
            <a:off x="4892040" y="4389120"/>
            <a:ext cx="3429000" cy="347472"/>
          </a:xfrm>
          <a:prstGeom prst="rect">
            <a:avLst/>
          </a:prstGeom>
          <a:noFill/>
        </p:spPr>
        <p:txBody>
          <a:bodyPr wrap="square" anchor="t">
            <a:spAutoFit/>
          </a:bodyPr>
          <a:lstStyle/>
          <a:p>
            <a:pPr algn="l"/>
            <a:r>
              <a:rPr sz="1050" b="0">
                <a:solidFill>
                  <a:srgbClr val="222D3D"/>
                </a:solidFill>
                <a:latin typeface="Aptos"/>
              </a:rPr>
              <a:t>Approve or deny a customer refund request and record the final state.</a:t>
            </a:r>
          </a:p>
        </p:txBody>
      </p:sp>
      <p:sp>
        <p:nvSpPr>
          <p:cNvPr id="41" name="Rounded Rectangle 40"/>
          <p:cNvSpPr/>
          <p:nvPr/>
        </p:nvSpPr>
        <p:spPr>
          <a:xfrm>
            <a:off x="4709160" y="5029200"/>
            <a:ext cx="3794760" cy="960120"/>
          </a:xfrm>
          <a:prstGeom prst="roundRect">
            <a:avLst>
              <a:gd name="adj" fmla="val 12000"/>
            </a:avLst>
          </a:prstGeom>
          <a:solidFill>
            <a:srgbClr val="FFFFFF"/>
          </a:solidFill>
          <a:ln>
            <a:solidFill>
              <a:srgbClr val="DD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ounded Rectangle 41"/>
          <p:cNvSpPr/>
          <p:nvPr/>
        </p:nvSpPr>
        <p:spPr>
          <a:xfrm>
            <a:off x="4709160" y="5029200"/>
            <a:ext cx="64008" cy="960120"/>
          </a:xfrm>
          <a:prstGeom prst="roundRect">
            <a:avLst>
              <a:gd name="adj" fmla="val 12000"/>
            </a:avLst>
          </a:prstGeom>
          <a:solidFill>
            <a:srgbClr val="008F7A"/>
          </a:solidFill>
          <a:ln>
            <a:solidFill>
              <a:srgbClr val="008F7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4892040" y="5157216"/>
            <a:ext cx="3474720" cy="320040"/>
          </a:xfrm>
          <a:prstGeom prst="rect">
            <a:avLst/>
          </a:prstGeom>
          <a:noFill/>
        </p:spPr>
        <p:txBody>
          <a:bodyPr wrap="square" anchor="ctr">
            <a:spAutoFit/>
          </a:bodyPr>
          <a:lstStyle/>
          <a:p>
            <a:pPr algn="l"/>
            <a:r>
              <a:rPr sz="1300" b="1">
                <a:solidFill>
                  <a:srgbClr val="0A2453"/>
                </a:solidFill>
                <a:latin typeface="Aptos"/>
              </a:rPr>
              <a:t>UC13 • Monitor Item Availability</a:t>
            </a:r>
          </a:p>
        </p:txBody>
      </p:sp>
      <p:sp>
        <p:nvSpPr>
          <p:cNvPr id="44" name="TextBox 43"/>
          <p:cNvSpPr txBox="1"/>
          <p:nvPr/>
        </p:nvSpPr>
        <p:spPr>
          <a:xfrm>
            <a:off x="4892040" y="5532120"/>
            <a:ext cx="3429000" cy="347472"/>
          </a:xfrm>
          <a:prstGeom prst="rect">
            <a:avLst/>
          </a:prstGeom>
          <a:noFill/>
        </p:spPr>
        <p:txBody>
          <a:bodyPr wrap="square" anchor="t">
            <a:spAutoFit/>
          </a:bodyPr>
          <a:lstStyle/>
          <a:p>
            <a:pPr algn="l"/>
            <a:r>
              <a:rPr sz="1050" b="0">
                <a:solidFill>
                  <a:srgbClr val="222D3D"/>
                </a:solidFill>
                <a:latin typeface="Aptos"/>
              </a:rPr>
              <a:t>Review menu/stock state to prevent unavailable items being sold.</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6858000"/>
          </a:xfrm>
          <a:prstGeom prst="rect">
            <a:avLst/>
          </a:prstGeom>
          <a:solidFill>
            <a:srgbClr val="F6F9FC"/>
          </a:solidFill>
          <a:ln>
            <a:solidFill>
              <a:srgbClr val="F6F9F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9144000" cy="109728"/>
          </a:xfrm>
          <a:prstGeom prst="rect">
            <a:avLst/>
          </a:prstGeom>
          <a:solidFill>
            <a:srgbClr val="0A2453"/>
          </a:solidFill>
          <a:ln>
            <a:solidFill>
              <a:srgbClr val="0A245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56032"/>
            <a:ext cx="8138160" cy="411480"/>
          </a:xfrm>
          <a:prstGeom prst="rect">
            <a:avLst/>
          </a:prstGeom>
          <a:noFill/>
        </p:spPr>
        <p:txBody>
          <a:bodyPr wrap="square" anchor="ctr">
            <a:spAutoFit/>
          </a:bodyPr>
          <a:lstStyle/>
          <a:p>
            <a:pPr algn="l"/>
            <a:r>
              <a:rPr sz="2300" b="1">
                <a:solidFill>
                  <a:srgbClr val="0A2453"/>
                </a:solidFill>
                <a:latin typeface="Aptos"/>
              </a:rPr>
              <a:t>USE CASE COVERAGE &amp; TRACEABILITY</a:t>
            </a:r>
          </a:p>
        </p:txBody>
      </p:sp>
      <p:sp>
        <p:nvSpPr>
          <p:cNvPr id="5" name="TextBox 4"/>
          <p:cNvSpPr txBox="1"/>
          <p:nvPr/>
        </p:nvSpPr>
        <p:spPr>
          <a:xfrm>
            <a:off x="521207" y="685800"/>
            <a:ext cx="8101583" cy="256032"/>
          </a:xfrm>
          <a:prstGeom prst="rect">
            <a:avLst/>
          </a:prstGeom>
          <a:noFill/>
        </p:spPr>
        <p:txBody>
          <a:bodyPr wrap="square" anchor="ctr">
            <a:spAutoFit/>
          </a:bodyPr>
          <a:lstStyle/>
          <a:p>
            <a:pPr algn="l"/>
            <a:r>
              <a:rPr sz="950" b="0">
                <a:solidFill>
                  <a:srgbClr val="5C697A"/>
                </a:solidFill>
                <a:latin typeface="Aptos"/>
              </a:rPr>
              <a:t>Additional interactions implied by the requirements and attached sequence</a:t>
            </a:r>
          </a:p>
        </p:txBody>
      </p:sp>
      <p:sp>
        <p:nvSpPr>
          <p:cNvPr id="6" name="Rectangle 5"/>
          <p:cNvSpPr/>
          <p:nvPr/>
        </p:nvSpPr>
        <p:spPr>
          <a:xfrm>
            <a:off x="502920" y="987552"/>
            <a:ext cx="685800" cy="36576"/>
          </a:xfrm>
          <a:prstGeom prst="rect">
            <a:avLst/>
          </a:prstGeom>
          <a:solidFill>
            <a:srgbClr val="EFB13F"/>
          </a:solidFill>
          <a:ln>
            <a:solidFill>
              <a:srgbClr val="EFB13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458200" y="6510528"/>
            <a:ext cx="320040" cy="182880"/>
          </a:xfrm>
          <a:prstGeom prst="rect">
            <a:avLst/>
          </a:prstGeom>
          <a:noFill/>
        </p:spPr>
        <p:txBody>
          <a:bodyPr wrap="square" anchor="ctr">
            <a:spAutoFit/>
          </a:bodyPr>
          <a:lstStyle/>
          <a:p>
            <a:pPr algn="r"/>
            <a:r>
              <a:rPr sz="900" b="1">
                <a:solidFill>
                  <a:srgbClr val="5C697A"/>
                </a:solidFill>
                <a:latin typeface="Aptos"/>
              </a:rPr>
              <a:t>16</a:t>
            </a:r>
          </a:p>
        </p:txBody>
      </p:sp>
      <p:sp>
        <p:nvSpPr>
          <p:cNvPr id="8" name="TextBox 7"/>
          <p:cNvSpPr txBox="1"/>
          <p:nvPr/>
        </p:nvSpPr>
        <p:spPr>
          <a:xfrm>
            <a:off x="502920" y="6510528"/>
            <a:ext cx="2011680" cy="182880"/>
          </a:xfrm>
          <a:prstGeom prst="rect">
            <a:avLst/>
          </a:prstGeom>
          <a:noFill/>
        </p:spPr>
        <p:txBody>
          <a:bodyPr wrap="square" anchor="ctr">
            <a:spAutoFit/>
          </a:bodyPr>
          <a:lstStyle/>
          <a:p>
            <a:pPr algn="l"/>
            <a:r>
              <a:rPr sz="800" b="1">
                <a:solidFill>
                  <a:srgbClr val="5C697A"/>
                </a:solidFill>
                <a:latin typeface="Aptos"/>
              </a:rPr>
              <a:t>GROUP 10 • CAFÉ POS</a:t>
            </a:r>
          </a:p>
        </p:txBody>
      </p:sp>
      <p:sp>
        <p:nvSpPr>
          <p:cNvPr id="9" name="Rounded Rectangle 8"/>
          <p:cNvSpPr/>
          <p:nvPr/>
        </p:nvSpPr>
        <p:spPr>
          <a:xfrm>
            <a:off x="548640" y="1234440"/>
            <a:ext cx="2606040" cy="438912"/>
          </a:xfrm>
          <a:prstGeom prst="roundRect">
            <a:avLst>
              <a:gd name="adj" fmla="val 12000"/>
            </a:avLst>
          </a:prstGeom>
          <a:solidFill>
            <a:srgbClr val="EFB13F"/>
          </a:solidFill>
          <a:ln>
            <a:solidFill>
              <a:srgbClr val="EFB13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58368" y="1271016"/>
            <a:ext cx="2386584" cy="320040"/>
          </a:xfrm>
          <a:prstGeom prst="rect">
            <a:avLst/>
          </a:prstGeom>
          <a:noFill/>
        </p:spPr>
        <p:txBody>
          <a:bodyPr wrap="square" anchor="ctr">
            <a:spAutoFit/>
          </a:bodyPr>
          <a:lstStyle/>
          <a:p>
            <a:pPr algn="ctr"/>
            <a:r>
              <a:rPr sz="1000" b="1">
                <a:solidFill>
                  <a:srgbClr val="FFFFFF"/>
                </a:solidFill>
                <a:latin typeface="Aptos"/>
              </a:rPr>
              <a:t>CUSTOMER / SERVICE</a:t>
            </a:r>
          </a:p>
        </p:txBody>
      </p:sp>
      <p:sp>
        <p:nvSpPr>
          <p:cNvPr id="11" name="Rounded Rectangle 10"/>
          <p:cNvSpPr/>
          <p:nvPr/>
        </p:nvSpPr>
        <p:spPr>
          <a:xfrm>
            <a:off x="548640" y="1847088"/>
            <a:ext cx="2606040" cy="1188720"/>
          </a:xfrm>
          <a:prstGeom prst="roundRect">
            <a:avLst>
              <a:gd name="adj" fmla="val 12000"/>
            </a:avLst>
          </a:prstGeom>
          <a:solidFill>
            <a:srgbClr val="FFFFFF"/>
          </a:solidFill>
          <a:ln>
            <a:solidFill>
              <a:srgbClr val="DD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548640" y="1847088"/>
            <a:ext cx="64008" cy="1188720"/>
          </a:xfrm>
          <a:prstGeom prst="roundRect">
            <a:avLst>
              <a:gd name="adj" fmla="val 12000"/>
            </a:avLst>
          </a:prstGeom>
          <a:solidFill>
            <a:srgbClr val="EFB13F"/>
          </a:solidFill>
          <a:ln>
            <a:solidFill>
              <a:srgbClr val="EFB13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31520" y="1975104"/>
            <a:ext cx="2286000" cy="320040"/>
          </a:xfrm>
          <a:prstGeom prst="rect">
            <a:avLst/>
          </a:prstGeom>
          <a:noFill/>
        </p:spPr>
        <p:txBody>
          <a:bodyPr wrap="square" anchor="ctr">
            <a:spAutoFit/>
          </a:bodyPr>
          <a:lstStyle/>
          <a:p>
            <a:pPr algn="l"/>
            <a:r>
              <a:rPr sz="1300" b="1">
                <a:solidFill>
                  <a:srgbClr val="0A2453"/>
                </a:solidFill>
                <a:latin typeface="Aptos"/>
              </a:rPr>
              <a:t>UC14 • Place Order</a:t>
            </a:r>
          </a:p>
        </p:txBody>
      </p:sp>
      <p:sp>
        <p:nvSpPr>
          <p:cNvPr id="14" name="TextBox 13"/>
          <p:cNvSpPr txBox="1"/>
          <p:nvPr/>
        </p:nvSpPr>
        <p:spPr>
          <a:xfrm>
            <a:off x="731520" y="2350008"/>
            <a:ext cx="2240280" cy="576072"/>
          </a:xfrm>
          <a:prstGeom prst="rect">
            <a:avLst/>
          </a:prstGeom>
          <a:noFill/>
        </p:spPr>
        <p:txBody>
          <a:bodyPr wrap="square" anchor="t">
            <a:spAutoFit/>
          </a:bodyPr>
          <a:lstStyle/>
          <a:p>
            <a:pPr algn="l"/>
            <a:r>
              <a:rPr sz="1050" b="0">
                <a:solidFill>
                  <a:srgbClr val="222D3D"/>
                </a:solidFill>
                <a:latin typeface="Aptos"/>
              </a:rPr>
              <a:t>Submit a selected set of menu items for processing.</a:t>
            </a:r>
          </a:p>
        </p:txBody>
      </p:sp>
      <p:sp>
        <p:nvSpPr>
          <p:cNvPr id="15" name="Rounded Rectangle 14"/>
          <p:cNvSpPr/>
          <p:nvPr/>
        </p:nvSpPr>
        <p:spPr>
          <a:xfrm>
            <a:off x="548640" y="3264408"/>
            <a:ext cx="2606040" cy="1188720"/>
          </a:xfrm>
          <a:prstGeom prst="roundRect">
            <a:avLst>
              <a:gd name="adj" fmla="val 12000"/>
            </a:avLst>
          </a:prstGeom>
          <a:solidFill>
            <a:srgbClr val="FFFFFF"/>
          </a:solidFill>
          <a:ln>
            <a:solidFill>
              <a:srgbClr val="DD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548640" y="3264408"/>
            <a:ext cx="64008" cy="1188720"/>
          </a:xfrm>
          <a:prstGeom prst="roundRect">
            <a:avLst>
              <a:gd name="adj" fmla="val 12000"/>
            </a:avLst>
          </a:prstGeom>
          <a:solidFill>
            <a:srgbClr val="EFB13F"/>
          </a:solidFill>
          <a:ln>
            <a:solidFill>
              <a:srgbClr val="EFB13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31520" y="3392424"/>
            <a:ext cx="2286000" cy="320040"/>
          </a:xfrm>
          <a:prstGeom prst="rect">
            <a:avLst/>
          </a:prstGeom>
          <a:noFill/>
        </p:spPr>
        <p:txBody>
          <a:bodyPr wrap="square" anchor="ctr">
            <a:spAutoFit/>
          </a:bodyPr>
          <a:lstStyle/>
          <a:p>
            <a:pPr algn="l"/>
            <a:r>
              <a:rPr sz="1300" b="1">
                <a:solidFill>
                  <a:srgbClr val="0A2453"/>
                </a:solidFill>
                <a:latin typeface="Aptos"/>
              </a:rPr>
              <a:t>UC15 • Request Refund</a:t>
            </a:r>
          </a:p>
        </p:txBody>
      </p:sp>
      <p:sp>
        <p:nvSpPr>
          <p:cNvPr id="18" name="TextBox 17"/>
          <p:cNvSpPr txBox="1"/>
          <p:nvPr/>
        </p:nvSpPr>
        <p:spPr>
          <a:xfrm>
            <a:off x="731520" y="3767328"/>
            <a:ext cx="2240280" cy="576072"/>
          </a:xfrm>
          <a:prstGeom prst="rect">
            <a:avLst/>
          </a:prstGeom>
          <a:noFill/>
        </p:spPr>
        <p:txBody>
          <a:bodyPr wrap="square" anchor="t">
            <a:spAutoFit/>
          </a:bodyPr>
          <a:lstStyle/>
          <a:p>
            <a:pPr algn="l"/>
            <a:r>
              <a:rPr sz="1050" b="0">
                <a:solidFill>
                  <a:srgbClr val="222D3D"/>
                </a:solidFill>
                <a:latin typeface="Aptos"/>
              </a:rPr>
              <a:t>Request a refund for an eligible paid order.</a:t>
            </a:r>
          </a:p>
        </p:txBody>
      </p:sp>
      <p:sp>
        <p:nvSpPr>
          <p:cNvPr id="19" name="Rounded Rectangle 18"/>
          <p:cNvSpPr/>
          <p:nvPr/>
        </p:nvSpPr>
        <p:spPr>
          <a:xfrm>
            <a:off x="3246120" y="1234440"/>
            <a:ext cx="2606040" cy="438912"/>
          </a:xfrm>
          <a:prstGeom prst="roundRect">
            <a:avLst>
              <a:gd name="adj" fmla="val 12000"/>
            </a:avLst>
          </a:prstGeom>
          <a:solidFill>
            <a:srgbClr val="184C8A"/>
          </a:solidFill>
          <a:ln>
            <a:solidFill>
              <a:srgbClr val="184C8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3355848" y="1271016"/>
            <a:ext cx="2386584" cy="320040"/>
          </a:xfrm>
          <a:prstGeom prst="rect">
            <a:avLst/>
          </a:prstGeom>
          <a:noFill/>
        </p:spPr>
        <p:txBody>
          <a:bodyPr wrap="square" anchor="ctr">
            <a:spAutoFit/>
          </a:bodyPr>
          <a:lstStyle/>
          <a:p>
            <a:pPr algn="ctr"/>
            <a:r>
              <a:rPr sz="1000" b="1">
                <a:solidFill>
                  <a:srgbClr val="FFFFFF"/>
                </a:solidFill>
                <a:latin typeface="Aptos"/>
              </a:rPr>
              <a:t>ACCESS &amp; SESSION</a:t>
            </a:r>
          </a:p>
        </p:txBody>
      </p:sp>
      <p:sp>
        <p:nvSpPr>
          <p:cNvPr id="21" name="Rounded Rectangle 20"/>
          <p:cNvSpPr/>
          <p:nvPr/>
        </p:nvSpPr>
        <p:spPr>
          <a:xfrm>
            <a:off x="3246120" y="1847088"/>
            <a:ext cx="2606040" cy="1188720"/>
          </a:xfrm>
          <a:prstGeom prst="roundRect">
            <a:avLst>
              <a:gd name="adj" fmla="val 12000"/>
            </a:avLst>
          </a:prstGeom>
          <a:solidFill>
            <a:srgbClr val="FFFFFF"/>
          </a:solidFill>
          <a:ln>
            <a:solidFill>
              <a:srgbClr val="DD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3246120" y="1847088"/>
            <a:ext cx="64008" cy="1188720"/>
          </a:xfrm>
          <a:prstGeom prst="roundRect">
            <a:avLst>
              <a:gd name="adj" fmla="val 12000"/>
            </a:avLst>
          </a:prstGeom>
          <a:solidFill>
            <a:srgbClr val="184C8A"/>
          </a:solidFill>
          <a:ln>
            <a:solidFill>
              <a:srgbClr val="184C8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429000" y="1975104"/>
            <a:ext cx="2286000" cy="320040"/>
          </a:xfrm>
          <a:prstGeom prst="rect">
            <a:avLst/>
          </a:prstGeom>
          <a:noFill/>
        </p:spPr>
        <p:txBody>
          <a:bodyPr wrap="square" anchor="ctr">
            <a:spAutoFit/>
          </a:bodyPr>
          <a:lstStyle/>
          <a:p>
            <a:pPr algn="l"/>
            <a:r>
              <a:rPr sz="1300" b="1">
                <a:solidFill>
                  <a:srgbClr val="0A2453"/>
                </a:solidFill>
                <a:latin typeface="Aptos"/>
              </a:rPr>
              <a:t>UC16 • Log In</a:t>
            </a:r>
          </a:p>
        </p:txBody>
      </p:sp>
      <p:sp>
        <p:nvSpPr>
          <p:cNvPr id="24" name="TextBox 23"/>
          <p:cNvSpPr txBox="1"/>
          <p:nvPr/>
        </p:nvSpPr>
        <p:spPr>
          <a:xfrm>
            <a:off x="3429000" y="2350008"/>
            <a:ext cx="2240280" cy="576072"/>
          </a:xfrm>
          <a:prstGeom prst="rect">
            <a:avLst/>
          </a:prstGeom>
          <a:noFill/>
        </p:spPr>
        <p:txBody>
          <a:bodyPr wrap="square" anchor="t">
            <a:spAutoFit/>
          </a:bodyPr>
          <a:lstStyle/>
          <a:p>
            <a:pPr algn="l"/>
            <a:r>
              <a:rPr sz="1050" b="0">
                <a:solidFill>
                  <a:srgbClr val="222D3D"/>
                </a:solidFill>
                <a:latin typeface="Aptos"/>
              </a:rPr>
              <a:t>Authenticate and establish a session token.</a:t>
            </a:r>
          </a:p>
        </p:txBody>
      </p:sp>
      <p:sp>
        <p:nvSpPr>
          <p:cNvPr id="25" name="Rounded Rectangle 24"/>
          <p:cNvSpPr/>
          <p:nvPr/>
        </p:nvSpPr>
        <p:spPr>
          <a:xfrm>
            <a:off x="3246120" y="3264408"/>
            <a:ext cx="2606040" cy="1188720"/>
          </a:xfrm>
          <a:prstGeom prst="roundRect">
            <a:avLst>
              <a:gd name="adj" fmla="val 12000"/>
            </a:avLst>
          </a:prstGeom>
          <a:solidFill>
            <a:srgbClr val="FFFFFF"/>
          </a:solidFill>
          <a:ln>
            <a:solidFill>
              <a:srgbClr val="DD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ounded Rectangle 25"/>
          <p:cNvSpPr/>
          <p:nvPr/>
        </p:nvSpPr>
        <p:spPr>
          <a:xfrm>
            <a:off x="3246120" y="3264408"/>
            <a:ext cx="64008" cy="1188720"/>
          </a:xfrm>
          <a:prstGeom prst="roundRect">
            <a:avLst>
              <a:gd name="adj" fmla="val 12000"/>
            </a:avLst>
          </a:prstGeom>
          <a:solidFill>
            <a:srgbClr val="184C8A"/>
          </a:solidFill>
          <a:ln>
            <a:solidFill>
              <a:srgbClr val="184C8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3429000" y="3392424"/>
            <a:ext cx="2286000" cy="320040"/>
          </a:xfrm>
          <a:prstGeom prst="rect">
            <a:avLst/>
          </a:prstGeom>
          <a:noFill/>
        </p:spPr>
        <p:txBody>
          <a:bodyPr wrap="square" anchor="ctr">
            <a:spAutoFit/>
          </a:bodyPr>
          <a:lstStyle/>
          <a:p>
            <a:pPr algn="l"/>
            <a:r>
              <a:rPr sz="1300" b="1">
                <a:solidFill>
                  <a:srgbClr val="0A2453"/>
                </a:solidFill>
                <a:latin typeface="Aptos"/>
              </a:rPr>
              <a:t>UC17 • Enforce Role Permissions</a:t>
            </a:r>
          </a:p>
        </p:txBody>
      </p:sp>
      <p:sp>
        <p:nvSpPr>
          <p:cNvPr id="28" name="TextBox 27"/>
          <p:cNvSpPr txBox="1"/>
          <p:nvPr/>
        </p:nvSpPr>
        <p:spPr>
          <a:xfrm>
            <a:off x="3429000" y="3767328"/>
            <a:ext cx="2240280" cy="576072"/>
          </a:xfrm>
          <a:prstGeom prst="rect">
            <a:avLst/>
          </a:prstGeom>
          <a:noFill/>
        </p:spPr>
        <p:txBody>
          <a:bodyPr wrap="square" anchor="t">
            <a:spAutoFit/>
          </a:bodyPr>
          <a:lstStyle/>
          <a:p>
            <a:pPr algn="l"/>
            <a:r>
              <a:rPr sz="1050" b="0">
                <a:solidFill>
                  <a:srgbClr val="222D3D"/>
                </a:solidFill>
                <a:latin typeface="Aptos"/>
              </a:rPr>
              <a:t>Allow manager-only actions only to the Manager role.</a:t>
            </a:r>
          </a:p>
        </p:txBody>
      </p:sp>
      <p:sp>
        <p:nvSpPr>
          <p:cNvPr id="29" name="Rounded Rectangle 28"/>
          <p:cNvSpPr/>
          <p:nvPr/>
        </p:nvSpPr>
        <p:spPr>
          <a:xfrm>
            <a:off x="5943600" y="1234440"/>
            <a:ext cx="2606040" cy="438912"/>
          </a:xfrm>
          <a:prstGeom prst="roundRect">
            <a:avLst>
              <a:gd name="adj" fmla="val 12000"/>
            </a:avLst>
          </a:prstGeom>
          <a:solidFill>
            <a:srgbClr val="008F7A"/>
          </a:solidFill>
          <a:ln>
            <a:solidFill>
              <a:srgbClr val="008F7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053328" y="1271016"/>
            <a:ext cx="2386584" cy="320040"/>
          </a:xfrm>
          <a:prstGeom prst="rect">
            <a:avLst/>
          </a:prstGeom>
          <a:noFill/>
        </p:spPr>
        <p:txBody>
          <a:bodyPr wrap="square" anchor="ctr">
            <a:spAutoFit/>
          </a:bodyPr>
          <a:lstStyle/>
          <a:p>
            <a:pPr algn="ctr"/>
            <a:r>
              <a:rPr sz="1000" b="1">
                <a:solidFill>
                  <a:srgbClr val="FFFFFF"/>
                </a:solidFill>
                <a:latin typeface="Aptos"/>
              </a:rPr>
              <a:t>REPORTING</a:t>
            </a:r>
          </a:p>
        </p:txBody>
      </p:sp>
      <p:sp>
        <p:nvSpPr>
          <p:cNvPr id="31" name="Rounded Rectangle 30"/>
          <p:cNvSpPr/>
          <p:nvPr/>
        </p:nvSpPr>
        <p:spPr>
          <a:xfrm>
            <a:off x="5943600" y="1847088"/>
            <a:ext cx="2606040" cy="1188720"/>
          </a:xfrm>
          <a:prstGeom prst="roundRect">
            <a:avLst>
              <a:gd name="adj" fmla="val 12000"/>
            </a:avLst>
          </a:prstGeom>
          <a:solidFill>
            <a:srgbClr val="FFFFFF"/>
          </a:solidFill>
          <a:ln>
            <a:solidFill>
              <a:srgbClr val="DD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ounded Rectangle 31"/>
          <p:cNvSpPr/>
          <p:nvPr/>
        </p:nvSpPr>
        <p:spPr>
          <a:xfrm>
            <a:off x="5943600" y="1847088"/>
            <a:ext cx="64008" cy="1188720"/>
          </a:xfrm>
          <a:prstGeom prst="roundRect">
            <a:avLst>
              <a:gd name="adj" fmla="val 12000"/>
            </a:avLst>
          </a:prstGeom>
          <a:solidFill>
            <a:srgbClr val="008F7A"/>
          </a:solidFill>
          <a:ln>
            <a:solidFill>
              <a:srgbClr val="008F7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126480" y="1975104"/>
            <a:ext cx="2286000" cy="320040"/>
          </a:xfrm>
          <a:prstGeom prst="rect">
            <a:avLst/>
          </a:prstGeom>
          <a:noFill/>
        </p:spPr>
        <p:txBody>
          <a:bodyPr wrap="square" anchor="ctr">
            <a:spAutoFit/>
          </a:bodyPr>
          <a:lstStyle/>
          <a:p>
            <a:pPr algn="l"/>
            <a:r>
              <a:rPr sz="1300" b="1">
                <a:solidFill>
                  <a:srgbClr val="0A2453"/>
                </a:solidFill>
                <a:latin typeface="Aptos"/>
              </a:rPr>
              <a:t>UC18 • Generate Daily Summary</a:t>
            </a:r>
          </a:p>
        </p:txBody>
      </p:sp>
      <p:sp>
        <p:nvSpPr>
          <p:cNvPr id="34" name="TextBox 33"/>
          <p:cNvSpPr txBox="1"/>
          <p:nvPr/>
        </p:nvSpPr>
        <p:spPr>
          <a:xfrm>
            <a:off x="6126480" y="2350008"/>
            <a:ext cx="2240280" cy="576072"/>
          </a:xfrm>
          <a:prstGeom prst="rect">
            <a:avLst/>
          </a:prstGeom>
          <a:noFill/>
        </p:spPr>
        <p:txBody>
          <a:bodyPr wrap="square" anchor="t">
            <a:spAutoFit/>
          </a:bodyPr>
          <a:lstStyle/>
          <a:p>
            <a:pPr algn="l"/>
            <a:r>
              <a:rPr sz="1050" b="0">
                <a:solidFill>
                  <a:srgbClr val="222D3D"/>
                </a:solidFill>
                <a:latin typeface="Aptos"/>
              </a:rPr>
              <a:t>Aggregate orders, revenue, items sold and top items by calendar day.</a:t>
            </a:r>
          </a:p>
        </p:txBody>
      </p:sp>
      <p:sp>
        <p:nvSpPr>
          <p:cNvPr id="35" name="Rounded Rectangle 34"/>
          <p:cNvSpPr/>
          <p:nvPr/>
        </p:nvSpPr>
        <p:spPr>
          <a:xfrm>
            <a:off x="5943600" y="3264408"/>
            <a:ext cx="2606040" cy="1188720"/>
          </a:xfrm>
          <a:prstGeom prst="roundRect">
            <a:avLst>
              <a:gd name="adj" fmla="val 12000"/>
            </a:avLst>
          </a:prstGeom>
          <a:solidFill>
            <a:srgbClr val="FFFFFF"/>
          </a:solidFill>
          <a:ln>
            <a:solidFill>
              <a:srgbClr val="DD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ounded Rectangle 35"/>
          <p:cNvSpPr/>
          <p:nvPr/>
        </p:nvSpPr>
        <p:spPr>
          <a:xfrm>
            <a:off x="5943600" y="3264408"/>
            <a:ext cx="64008" cy="1188720"/>
          </a:xfrm>
          <a:prstGeom prst="roundRect">
            <a:avLst>
              <a:gd name="adj" fmla="val 12000"/>
            </a:avLst>
          </a:prstGeom>
          <a:solidFill>
            <a:srgbClr val="008F7A"/>
          </a:solidFill>
          <a:ln>
            <a:solidFill>
              <a:srgbClr val="008F7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6126480" y="3392424"/>
            <a:ext cx="2286000" cy="320040"/>
          </a:xfrm>
          <a:prstGeom prst="rect">
            <a:avLst/>
          </a:prstGeom>
          <a:noFill/>
        </p:spPr>
        <p:txBody>
          <a:bodyPr wrap="square" anchor="ctr">
            <a:spAutoFit/>
          </a:bodyPr>
          <a:lstStyle/>
          <a:p>
            <a:pPr algn="l"/>
            <a:r>
              <a:rPr sz="1300" b="1">
                <a:solidFill>
                  <a:srgbClr val="0A2453"/>
                </a:solidFill>
                <a:latin typeface="Aptos"/>
              </a:rPr>
              <a:t>UC19 • Export Summary</a:t>
            </a:r>
          </a:p>
        </p:txBody>
      </p:sp>
      <p:sp>
        <p:nvSpPr>
          <p:cNvPr id="38" name="TextBox 37"/>
          <p:cNvSpPr txBox="1"/>
          <p:nvPr/>
        </p:nvSpPr>
        <p:spPr>
          <a:xfrm>
            <a:off x="6126480" y="3767328"/>
            <a:ext cx="2240280" cy="576072"/>
          </a:xfrm>
          <a:prstGeom prst="rect">
            <a:avLst/>
          </a:prstGeom>
          <a:noFill/>
        </p:spPr>
        <p:txBody>
          <a:bodyPr wrap="square" anchor="t">
            <a:spAutoFit/>
          </a:bodyPr>
          <a:lstStyle/>
          <a:p>
            <a:pPr algn="l"/>
            <a:r>
              <a:rPr sz="1050" b="0">
                <a:solidFill>
                  <a:srgbClr val="222D3D"/>
                </a:solidFill>
                <a:latin typeface="Aptos"/>
              </a:rPr>
              <a:t>Export or share daily metrics for management review.</a:t>
            </a:r>
          </a:p>
        </p:txBody>
      </p:sp>
      <p:sp>
        <p:nvSpPr>
          <p:cNvPr id="39" name="Rounded Rectangle 38"/>
          <p:cNvSpPr/>
          <p:nvPr/>
        </p:nvSpPr>
        <p:spPr>
          <a:xfrm>
            <a:off x="548640" y="4892040"/>
            <a:ext cx="8001000" cy="960120"/>
          </a:xfrm>
          <a:prstGeom prst="roundRect">
            <a:avLst>
              <a:gd name="adj" fmla="val 12000"/>
            </a:avLst>
          </a:prstGeom>
          <a:solidFill>
            <a:srgbClr val="0A2453"/>
          </a:solidFill>
          <a:ln>
            <a:solidFill>
              <a:srgbClr val="0A245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777240" y="5074920"/>
            <a:ext cx="2148840" cy="228600"/>
          </a:xfrm>
          <a:prstGeom prst="rect">
            <a:avLst/>
          </a:prstGeom>
          <a:noFill/>
        </p:spPr>
        <p:txBody>
          <a:bodyPr wrap="square" anchor="ctr">
            <a:spAutoFit/>
          </a:bodyPr>
          <a:lstStyle/>
          <a:p>
            <a:pPr algn="l"/>
            <a:r>
              <a:rPr sz="1000" b="1">
                <a:solidFill>
                  <a:srgbClr val="EFB13F"/>
                </a:solidFill>
                <a:latin typeface="Aptos"/>
              </a:rPr>
              <a:t>REQUIREMENT → USE CASE → MODEL</a:t>
            </a:r>
          </a:p>
        </p:txBody>
      </p:sp>
      <p:sp>
        <p:nvSpPr>
          <p:cNvPr id="41" name="TextBox 40"/>
          <p:cNvSpPr txBox="1"/>
          <p:nvPr/>
        </p:nvSpPr>
        <p:spPr>
          <a:xfrm>
            <a:off x="2788920" y="4983480"/>
            <a:ext cx="5440680" cy="438912"/>
          </a:xfrm>
          <a:prstGeom prst="rect">
            <a:avLst/>
          </a:prstGeom>
          <a:noFill/>
        </p:spPr>
        <p:txBody>
          <a:bodyPr wrap="square" anchor="t">
            <a:spAutoFit/>
          </a:bodyPr>
          <a:lstStyle/>
          <a:p>
            <a:pPr algn="l"/>
            <a:r>
              <a:rPr sz="1000" b="0">
                <a:solidFill>
                  <a:srgbClr val="FFFFFF"/>
                </a:solidFill>
                <a:latin typeface="Aptos"/>
              </a:rPr>
              <a:t>Category menu → Browse Menu → Category / MenuItem     •     Payment → Collect Payment → Payment     •     Daily metrics → Generate Daily Summary → DailySummary</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6858000"/>
          </a:xfrm>
          <a:prstGeom prst="rect">
            <a:avLst/>
          </a:prstGeom>
          <a:solidFill>
            <a:srgbClr val="F6F9FC"/>
          </a:solidFill>
          <a:ln>
            <a:solidFill>
              <a:srgbClr val="F6F9F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9144000" cy="109728"/>
          </a:xfrm>
          <a:prstGeom prst="rect">
            <a:avLst/>
          </a:prstGeom>
          <a:solidFill>
            <a:srgbClr val="0A2453"/>
          </a:solidFill>
          <a:ln>
            <a:solidFill>
              <a:srgbClr val="0A245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56032"/>
            <a:ext cx="8138160" cy="411480"/>
          </a:xfrm>
          <a:prstGeom prst="rect">
            <a:avLst/>
          </a:prstGeom>
          <a:noFill/>
        </p:spPr>
        <p:txBody>
          <a:bodyPr wrap="square" anchor="ctr">
            <a:spAutoFit/>
          </a:bodyPr>
          <a:lstStyle/>
          <a:p>
            <a:pPr algn="l"/>
            <a:r>
              <a:rPr sz="2300" b="1">
                <a:solidFill>
                  <a:srgbClr val="0A2453"/>
                </a:solidFill>
                <a:latin typeface="Aptos"/>
              </a:rPr>
              <a:t>USE CASE INTERACTION MAP</a:t>
            </a:r>
          </a:p>
        </p:txBody>
      </p:sp>
      <p:sp>
        <p:nvSpPr>
          <p:cNvPr id="5" name="TextBox 4"/>
          <p:cNvSpPr txBox="1"/>
          <p:nvPr/>
        </p:nvSpPr>
        <p:spPr>
          <a:xfrm>
            <a:off x="521207" y="685800"/>
            <a:ext cx="8101583" cy="256032"/>
          </a:xfrm>
          <a:prstGeom prst="rect">
            <a:avLst/>
          </a:prstGeom>
          <a:noFill/>
        </p:spPr>
        <p:txBody>
          <a:bodyPr wrap="square" anchor="ctr">
            <a:spAutoFit/>
          </a:bodyPr>
          <a:lstStyle/>
          <a:p>
            <a:pPr algn="l"/>
            <a:r>
              <a:rPr sz="950" b="0">
                <a:solidFill>
                  <a:srgbClr val="5C697A"/>
                </a:solidFill>
                <a:latin typeface="Aptos"/>
              </a:rPr>
              <a:t>Who interacts with which capabilities?</a:t>
            </a:r>
          </a:p>
        </p:txBody>
      </p:sp>
      <p:sp>
        <p:nvSpPr>
          <p:cNvPr id="6" name="Rectangle 5"/>
          <p:cNvSpPr/>
          <p:nvPr/>
        </p:nvSpPr>
        <p:spPr>
          <a:xfrm>
            <a:off x="502920" y="987552"/>
            <a:ext cx="685800" cy="36576"/>
          </a:xfrm>
          <a:prstGeom prst="rect">
            <a:avLst/>
          </a:prstGeom>
          <a:solidFill>
            <a:srgbClr val="EFB13F"/>
          </a:solidFill>
          <a:ln>
            <a:solidFill>
              <a:srgbClr val="EFB13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458200" y="6510528"/>
            <a:ext cx="320040" cy="182880"/>
          </a:xfrm>
          <a:prstGeom prst="rect">
            <a:avLst/>
          </a:prstGeom>
          <a:noFill/>
        </p:spPr>
        <p:txBody>
          <a:bodyPr wrap="square" anchor="ctr">
            <a:spAutoFit/>
          </a:bodyPr>
          <a:lstStyle/>
          <a:p>
            <a:pPr algn="r"/>
            <a:r>
              <a:rPr sz="900" b="1">
                <a:solidFill>
                  <a:srgbClr val="5C697A"/>
                </a:solidFill>
                <a:latin typeface="Aptos"/>
              </a:rPr>
              <a:t>17</a:t>
            </a:r>
          </a:p>
        </p:txBody>
      </p:sp>
      <p:sp>
        <p:nvSpPr>
          <p:cNvPr id="8" name="TextBox 7"/>
          <p:cNvSpPr txBox="1"/>
          <p:nvPr/>
        </p:nvSpPr>
        <p:spPr>
          <a:xfrm>
            <a:off x="502920" y="6510528"/>
            <a:ext cx="2011680" cy="182880"/>
          </a:xfrm>
          <a:prstGeom prst="rect">
            <a:avLst/>
          </a:prstGeom>
          <a:noFill/>
        </p:spPr>
        <p:txBody>
          <a:bodyPr wrap="square" anchor="ctr">
            <a:spAutoFit/>
          </a:bodyPr>
          <a:lstStyle/>
          <a:p>
            <a:pPr algn="l"/>
            <a:r>
              <a:rPr sz="800" b="1">
                <a:solidFill>
                  <a:srgbClr val="5C697A"/>
                </a:solidFill>
                <a:latin typeface="Aptos"/>
              </a:rPr>
              <a:t>GROUP 10 • CAFÉ POS</a:t>
            </a:r>
          </a:p>
        </p:txBody>
      </p:sp>
      <p:sp>
        <p:nvSpPr>
          <p:cNvPr id="9" name="Rounded Rectangle 8"/>
          <p:cNvSpPr/>
          <p:nvPr/>
        </p:nvSpPr>
        <p:spPr>
          <a:xfrm>
            <a:off x="594360" y="1463040"/>
            <a:ext cx="1234440" cy="594360"/>
          </a:xfrm>
          <a:prstGeom prst="roundRect">
            <a:avLst>
              <a:gd name="adj" fmla="val 12000"/>
            </a:avLst>
          </a:prstGeom>
          <a:solidFill>
            <a:srgbClr val="184C8A"/>
          </a:solidFill>
          <a:ln>
            <a:solidFill>
              <a:srgbClr val="184C8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58368" y="1572768"/>
            <a:ext cx="1106424" cy="365760"/>
          </a:xfrm>
          <a:prstGeom prst="rect">
            <a:avLst/>
          </a:prstGeom>
          <a:noFill/>
        </p:spPr>
        <p:txBody>
          <a:bodyPr wrap="square" anchor="ctr">
            <a:spAutoFit/>
          </a:bodyPr>
          <a:lstStyle/>
          <a:p>
            <a:pPr algn="ctr"/>
            <a:r>
              <a:rPr sz="1200" b="1">
                <a:solidFill>
                  <a:srgbClr val="FFFFFF"/>
                </a:solidFill>
                <a:latin typeface="Aptos"/>
              </a:rPr>
              <a:t>CASHIER</a:t>
            </a:r>
          </a:p>
        </p:txBody>
      </p:sp>
      <p:sp>
        <p:nvSpPr>
          <p:cNvPr id="11" name="Rounded Rectangle 10"/>
          <p:cNvSpPr/>
          <p:nvPr/>
        </p:nvSpPr>
        <p:spPr>
          <a:xfrm>
            <a:off x="594360" y="2971800"/>
            <a:ext cx="1234440" cy="594360"/>
          </a:xfrm>
          <a:prstGeom prst="roundRect">
            <a:avLst>
              <a:gd name="adj" fmla="val 12000"/>
            </a:avLst>
          </a:prstGeom>
          <a:solidFill>
            <a:srgbClr val="008F7A"/>
          </a:solidFill>
          <a:ln>
            <a:solidFill>
              <a:srgbClr val="008F7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58368" y="3081528"/>
            <a:ext cx="1106424" cy="365760"/>
          </a:xfrm>
          <a:prstGeom prst="rect">
            <a:avLst/>
          </a:prstGeom>
          <a:noFill/>
        </p:spPr>
        <p:txBody>
          <a:bodyPr wrap="square" anchor="ctr">
            <a:spAutoFit/>
          </a:bodyPr>
          <a:lstStyle/>
          <a:p>
            <a:pPr algn="ctr"/>
            <a:r>
              <a:rPr sz="1200" b="1">
                <a:solidFill>
                  <a:srgbClr val="FFFFFF"/>
                </a:solidFill>
                <a:latin typeface="Aptos"/>
              </a:rPr>
              <a:t>MANAGER</a:t>
            </a:r>
          </a:p>
        </p:txBody>
      </p:sp>
      <p:sp>
        <p:nvSpPr>
          <p:cNvPr id="13" name="Rounded Rectangle 12"/>
          <p:cNvSpPr/>
          <p:nvPr/>
        </p:nvSpPr>
        <p:spPr>
          <a:xfrm>
            <a:off x="594360" y="4480560"/>
            <a:ext cx="1234440" cy="594360"/>
          </a:xfrm>
          <a:prstGeom prst="roundRect">
            <a:avLst>
              <a:gd name="adj" fmla="val 12000"/>
            </a:avLst>
          </a:prstGeom>
          <a:solidFill>
            <a:srgbClr val="EFB13F"/>
          </a:solidFill>
          <a:ln>
            <a:solidFill>
              <a:srgbClr val="EFB13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58368" y="4590288"/>
            <a:ext cx="1106424" cy="365760"/>
          </a:xfrm>
          <a:prstGeom prst="rect">
            <a:avLst/>
          </a:prstGeom>
          <a:noFill/>
        </p:spPr>
        <p:txBody>
          <a:bodyPr wrap="square" anchor="ctr">
            <a:spAutoFit/>
          </a:bodyPr>
          <a:lstStyle/>
          <a:p>
            <a:pPr algn="ctr"/>
            <a:r>
              <a:rPr sz="1200" b="1">
                <a:solidFill>
                  <a:srgbClr val="FFFFFF"/>
                </a:solidFill>
                <a:latin typeface="Aptos"/>
              </a:rPr>
              <a:t>CUSTOMER</a:t>
            </a:r>
          </a:p>
        </p:txBody>
      </p:sp>
      <p:sp>
        <p:nvSpPr>
          <p:cNvPr id="15" name="Rounded Rectangle 14"/>
          <p:cNvSpPr/>
          <p:nvPr/>
        </p:nvSpPr>
        <p:spPr>
          <a:xfrm>
            <a:off x="2148840" y="1188720"/>
            <a:ext cx="6355080" cy="4663440"/>
          </a:xfrm>
          <a:prstGeom prst="roundRect">
            <a:avLst>
              <a:gd name="adj" fmla="val 12000"/>
            </a:avLst>
          </a:prstGeom>
          <a:solidFill>
            <a:srgbClr val="FFFFFF"/>
          </a:solidFill>
          <a:ln>
            <a:solidFill>
              <a:srgbClr val="C8D3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377440" y="1307592"/>
            <a:ext cx="2194560" cy="274320"/>
          </a:xfrm>
          <a:prstGeom prst="rect">
            <a:avLst/>
          </a:prstGeom>
          <a:noFill/>
        </p:spPr>
        <p:txBody>
          <a:bodyPr wrap="square" anchor="ctr">
            <a:spAutoFit/>
          </a:bodyPr>
          <a:lstStyle/>
          <a:p>
            <a:pPr algn="l"/>
            <a:r>
              <a:rPr sz="1000" b="1">
                <a:solidFill>
                  <a:srgbClr val="5C697A"/>
                </a:solidFill>
                <a:latin typeface="Aptos"/>
              </a:rPr>
              <a:t>CAFÉ POS SYSTEM</a:t>
            </a:r>
          </a:p>
        </p:txBody>
      </p:sp>
      <p:sp>
        <p:nvSpPr>
          <p:cNvPr id="17" name="Rounded Rectangle 16"/>
          <p:cNvSpPr/>
          <p:nvPr/>
        </p:nvSpPr>
        <p:spPr>
          <a:xfrm>
            <a:off x="2423160" y="1783080"/>
            <a:ext cx="1600200" cy="640080"/>
          </a:xfrm>
          <a:prstGeom prst="roundRect">
            <a:avLst>
              <a:gd name="adj" fmla="val 12000"/>
            </a:avLst>
          </a:prstGeom>
          <a:solidFill>
            <a:srgbClr val="FAFCFF"/>
          </a:solidFill>
          <a:ln>
            <a:solidFill>
              <a:srgbClr val="184C8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496312" y="1856231"/>
            <a:ext cx="1453896" cy="493776"/>
          </a:xfrm>
          <a:prstGeom prst="rect">
            <a:avLst/>
          </a:prstGeom>
          <a:noFill/>
        </p:spPr>
        <p:txBody>
          <a:bodyPr wrap="square" anchor="ctr">
            <a:spAutoFit/>
          </a:bodyPr>
          <a:lstStyle/>
          <a:p>
            <a:pPr algn="ctr"/>
            <a:r>
              <a:rPr sz="1000" b="1">
                <a:solidFill>
                  <a:srgbClr val="0A2453"/>
                </a:solidFill>
                <a:latin typeface="Aptos"/>
              </a:rPr>
              <a:t>Create / Adjust
Order</a:t>
            </a:r>
          </a:p>
        </p:txBody>
      </p:sp>
      <p:sp>
        <p:nvSpPr>
          <p:cNvPr id="19" name="Rounded Rectangle 18"/>
          <p:cNvSpPr/>
          <p:nvPr/>
        </p:nvSpPr>
        <p:spPr>
          <a:xfrm>
            <a:off x="4251960" y="1783080"/>
            <a:ext cx="1417320" cy="640080"/>
          </a:xfrm>
          <a:prstGeom prst="roundRect">
            <a:avLst>
              <a:gd name="adj" fmla="val 12000"/>
            </a:avLst>
          </a:prstGeom>
          <a:solidFill>
            <a:srgbClr val="FAFCFF"/>
          </a:solidFill>
          <a:ln>
            <a:solidFill>
              <a:srgbClr val="184C8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325112" y="1856231"/>
            <a:ext cx="1271016" cy="493776"/>
          </a:xfrm>
          <a:prstGeom prst="rect">
            <a:avLst/>
          </a:prstGeom>
          <a:noFill/>
        </p:spPr>
        <p:txBody>
          <a:bodyPr wrap="square" anchor="ctr">
            <a:spAutoFit/>
          </a:bodyPr>
          <a:lstStyle/>
          <a:p>
            <a:pPr algn="ctr"/>
            <a:r>
              <a:rPr sz="1000" b="1">
                <a:solidFill>
                  <a:srgbClr val="0A2453"/>
                </a:solidFill>
                <a:latin typeface="Aptos"/>
              </a:rPr>
              <a:t>Collect
Payment</a:t>
            </a:r>
          </a:p>
        </p:txBody>
      </p:sp>
      <p:sp>
        <p:nvSpPr>
          <p:cNvPr id="21" name="Rounded Rectangle 20"/>
          <p:cNvSpPr/>
          <p:nvPr/>
        </p:nvSpPr>
        <p:spPr>
          <a:xfrm>
            <a:off x="5897880" y="1783080"/>
            <a:ext cx="1508760" cy="640080"/>
          </a:xfrm>
          <a:prstGeom prst="roundRect">
            <a:avLst>
              <a:gd name="adj" fmla="val 12000"/>
            </a:avLst>
          </a:prstGeom>
          <a:solidFill>
            <a:srgbClr val="FAFCFF"/>
          </a:solidFill>
          <a:ln>
            <a:solidFill>
              <a:srgbClr val="184C8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971032" y="1856231"/>
            <a:ext cx="1362456" cy="493776"/>
          </a:xfrm>
          <a:prstGeom prst="rect">
            <a:avLst/>
          </a:prstGeom>
          <a:noFill/>
        </p:spPr>
        <p:txBody>
          <a:bodyPr wrap="square" anchor="ctr">
            <a:spAutoFit/>
          </a:bodyPr>
          <a:lstStyle/>
          <a:p>
            <a:pPr algn="ctr"/>
            <a:r>
              <a:rPr sz="1000" b="1">
                <a:solidFill>
                  <a:srgbClr val="0A2453"/>
                </a:solidFill>
                <a:latin typeface="Aptos"/>
              </a:rPr>
              <a:t>Advance
Status</a:t>
            </a:r>
          </a:p>
        </p:txBody>
      </p:sp>
      <p:sp>
        <p:nvSpPr>
          <p:cNvPr id="23" name="Rounded Rectangle 22"/>
          <p:cNvSpPr/>
          <p:nvPr/>
        </p:nvSpPr>
        <p:spPr>
          <a:xfrm>
            <a:off x="2423160" y="2971800"/>
            <a:ext cx="1600200" cy="640080"/>
          </a:xfrm>
          <a:prstGeom prst="roundRect">
            <a:avLst>
              <a:gd name="adj" fmla="val 12000"/>
            </a:avLst>
          </a:prstGeom>
          <a:solidFill>
            <a:srgbClr val="FAFCFF"/>
          </a:solidFill>
          <a:ln>
            <a:solidFill>
              <a:srgbClr val="008F7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2496312" y="3044952"/>
            <a:ext cx="1453896" cy="493776"/>
          </a:xfrm>
          <a:prstGeom prst="rect">
            <a:avLst/>
          </a:prstGeom>
          <a:noFill/>
        </p:spPr>
        <p:txBody>
          <a:bodyPr wrap="square" anchor="ctr">
            <a:spAutoFit/>
          </a:bodyPr>
          <a:lstStyle/>
          <a:p>
            <a:pPr algn="ctr"/>
            <a:r>
              <a:rPr sz="1000" b="1">
                <a:solidFill>
                  <a:srgbClr val="0A2453"/>
                </a:solidFill>
                <a:latin typeface="Aptos"/>
              </a:rPr>
              <a:t>Approve
Pending Order</a:t>
            </a:r>
          </a:p>
        </p:txBody>
      </p:sp>
      <p:sp>
        <p:nvSpPr>
          <p:cNvPr id="25" name="Rounded Rectangle 24"/>
          <p:cNvSpPr/>
          <p:nvPr/>
        </p:nvSpPr>
        <p:spPr>
          <a:xfrm>
            <a:off x="4251960" y="2971800"/>
            <a:ext cx="1417320" cy="640080"/>
          </a:xfrm>
          <a:prstGeom prst="roundRect">
            <a:avLst>
              <a:gd name="adj" fmla="val 12000"/>
            </a:avLst>
          </a:prstGeom>
          <a:solidFill>
            <a:srgbClr val="FAFCFF"/>
          </a:solidFill>
          <a:ln>
            <a:solidFill>
              <a:srgbClr val="008F7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4325112" y="3044952"/>
            <a:ext cx="1271016" cy="493776"/>
          </a:xfrm>
          <a:prstGeom prst="rect">
            <a:avLst/>
          </a:prstGeom>
          <a:noFill/>
        </p:spPr>
        <p:txBody>
          <a:bodyPr wrap="square" anchor="ctr">
            <a:spAutoFit/>
          </a:bodyPr>
          <a:lstStyle/>
          <a:p>
            <a:pPr algn="ctr"/>
            <a:r>
              <a:rPr sz="1000" b="1">
                <a:solidFill>
                  <a:srgbClr val="0A2453"/>
                </a:solidFill>
                <a:latin typeface="Aptos"/>
              </a:rPr>
              <a:t>Manage
Menu</a:t>
            </a:r>
          </a:p>
        </p:txBody>
      </p:sp>
      <p:sp>
        <p:nvSpPr>
          <p:cNvPr id="27" name="Rounded Rectangle 26"/>
          <p:cNvSpPr/>
          <p:nvPr/>
        </p:nvSpPr>
        <p:spPr>
          <a:xfrm>
            <a:off x="5897880" y="2971800"/>
            <a:ext cx="1508760" cy="640080"/>
          </a:xfrm>
          <a:prstGeom prst="roundRect">
            <a:avLst>
              <a:gd name="adj" fmla="val 12000"/>
            </a:avLst>
          </a:prstGeom>
          <a:solidFill>
            <a:srgbClr val="FAFCFF"/>
          </a:solidFill>
          <a:ln>
            <a:solidFill>
              <a:srgbClr val="008F7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5971032" y="3044952"/>
            <a:ext cx="1362456" cy="493776"/>
          </a:xfrm>
          <a:prstGeom prst="rect">
            <a:avLst/>
          </a:prstGeom>
          <a:noFill/>
        </p:spPr>
        <p:txBody>
          <a:bodyPr wrap="square" anchor="ctr">
            <a:spAutoFit/>
          </a:bodyPr>
          <a:lstStyle/>
          <a:p>
            <a:pPr algn="ctr"/>
            <a:r>
              <a:rPr sz="1000" b="1">
                <a:solidFill>
                  <a:srgbClr val="0A2453"/>
                </a:solidFill>
                <a:latin typeface="Aptos"/>
              </a:rPr>
              <a:t>Void / Refund
Decision</a:t>
            </a:r>
          </a:p>
        </p:txBody>
      </p:sp>
      <p:sp>
        <p:nvSpPr>
          <p:cNvPr id="29" name="Rounded Rectangle 28"/>
          <p:cNvSpPr/>
          <p:nvPr/>
        </p:nvSpPr>
        <p:spPr>
          <a:xfrm>
            <a:off x="2423160" y="4160520"/>
            <a:ext cx="1600200" cy="640080"/>
          </a:xfrm>
          <a:prstGeom prst="roundRect">
            <a:avLst>
              <a:gd name="adj" fmla="val 12000"/>
            </a:avLst>
          </a:prstGeom>
          <a:solidFill>
            <a:srgbClr val="FAFCFF"/>
          </a:solidFill>
          <a:ln>
            <a:solidFill>
              <a:srgbClr val="EFB13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2496312" y="4233672"/>
            <a:ext cx="1453896" cy="493776"/>
          </a:xfrm>
          <a:prstGeom prst="rect">
            <a:avLst/>
          </a:prstGeom>
          <a:noFill/>
        </p:spPr>
        <p:txBody>
          <a:bodyPr wrap="square" anchor="ctr">
            <a:spAutoFit/>
          </a:bodyPr>
          <a:lstStyle/>
          <a:p>
            <a:pPr algn="ctr"/>
            <a:r>
              <a:rPr sz="1000" b="1">
                <a:solidFill>
                  <a:srgbClr val="0A2453"/>
                </a:solidFill>
                <a:latin typeface="Aptos"/>
              </a:rPr>
              <a:t>Browse Menu</a:t>
            </a:r>
          </a:p>
        </p:txBody>
      </p:sp>
      <p:sp>
        <p:nvSpPr>
          <p:cNvPr id="31" name="Rounded Rectangle 30"/>
          <p:cNvSpPr/>
          <p:nvPr/>
        </p:nvSpPr>
        <p:spPr>
          <a:xfrm>
            <a:off x="4251960" y="4160520"/>
            <a:ext cx="1417320" cy="640080"/>
          </a:xfrm>
          <a:prstGeom prst="roundRect">
            <a:avLst>
              <a:gd name="adj" fmla="val 12000"/>
            </a:avLst>
          </a:prstGeom>
          <a:solidFill>
            <a:srgbClr val="FAFCFF"/>
          </a:solidFill>
          <a:ln>
            <a:solidFill>
              <a:srgbClr val="EFB13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4325112" y="4233672"/>
            <a:ext cx="1271016" cy="493776"/>
          </a:xfrm>
          <a:prstGeom prst="rect">
            <a:avLst/>
          </a:prstGeom>
          <a:noFill/>
        </p:spPr>
        <p:txBody>
          <a:bodyPr wrap="square" anchor="ctr">
            <a:spAutoFit/>
          </a:bodyPr>
          <a:lstStyle/>
          <a:p>
            <a:pPr algn="ctr"/>
            <a:r>
              <a:rPr sz="1000" b="1">
                <a:solidFill>
                  <a:srgbClr val="0A2453"/>
                </a:solidFill>
                <a:latin typeface="Aptos"/>
              </a:rPr>
              <a:t>Place Order</a:t>
            </a:r>
          </a:p>
        </p:txBody>
      </p:sp>
      <p:sp>
        <p:nvSpPr>
          <p:cNvPr id="33" name="Rounded Rectangle 32"/>
          <p:cNvSpPr/>
          <p:nvPr/>
        </p:nvSpPr>
        <p:spPr>
          <a:xfrm>
            <a:off x="5897880" y="4160520"/>
            <a:ext cx="1508760" cy="640080"/>
          </a:xfrm>
          <a:prstGeom prst="roundRect">
            <a:avLst>
              <a:gd name="adj" fmla="val 12000"/>
            </a:avLst>
          </a:prstGeom>
          <a:solidFill>
            <a:srgbClr val="FAFCFF"/>
          </a:solidFill>
          <a:ln>
            <a:solidFill>
              <a:srgbClr val="EFB13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5971032" y="4233672"/>
            <a:ext cx="1362456" cy="493776"/>
          </a:xfrm>
          <a:prstGeom prst="rect">
            <a:avLst/>
          </a:prstGeom>
          <a:noFill/>
        </p:spPr>
        <p:txBody>
          <a:bodyPr wrap="square" anchor="ctr">
            <a:spAutoFit/>
          </a:bodyPr>
          <a:lstStyle/>
          <a:p>
            <a:pPr algn="ctr"/>
            <a:r>
              <a:rPr sz="1000" b="1">
                <a:solidFill>
                  <a:srgbClr val="0A2453"/>
                </a:solidFill>
                <a:latin typeface="Aptos"/>
              </a:rPr>
              <a:t>Request
Refund</a:t>
            </a:r>
          </a:p>
        </p:txBody>
      </p:sp>
      <p:sp>
        <p:nvSpPr>
          <p:cNvPr id="35" name="Rounded Rectangle 34"/>
          <p:cNvSpPr/>
          <p:nvPr/>
        </p:nvSpPr>
        <p:spPr>
          <a:xfrm>
            <a:off x="3794760" y="5166360"/>
            <a:ext cx="2057400" cy="640080"/>
          </a:xfrm>
          <a:prstGeom prst="roundRect">
            <a:avLst>
              <a:gd name="adj" fmla="val 12000"/>
            </a:avLst>
          </a:prstGeom>
          <a:solidFill>
            <a:srgbClr val="FAFCFF"/>
          </a:solidFill>
          <a:ln>
            <a:solidFill>
              <a:srgbClr val="008F7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3867912" y="5239512"/>
            <a:ext cx="1911095" cy="493776"/>
          </a:xfrm>
          <a:prstGeom prst="rect">
            <a:avLst/>
          </a:prstGeom>
          <a:noFill/>
        </p:spPr>
        <p:txBody>
          <a:bodyPr wrap="square" anchor="ctr">
            <a:spAutoFit/>
          </a:bodyPr>
          <a:lstStyle/>
          <a:p>
            <a:pPr algn="ctr"/>
            <a:r>
              <a:rPr sz="1000" b="1">
                <a:solidFill>
                  <a:srgbClr val="0A2453"/>
                </a:solidFill>
                <a:latin typeface="Aptos"/>
              </a:rPr>
              <a:t>Daily Summary / Export</a:t>
            </a:r>
          </a:p>
        </p:txBody>
      </p:sp>
      <p:cxnSp>
        <p:nvCxnSpPr>
          <p:cNvPr id="37" name="Connector 36"/>
          <p:cNvCxnSpPr/>
          <p:nvPr/>
        </p:nvCxnSpPr>
        <p:spPr>
          <a:xfrm>
            <a:off x="1828800" y="1764792"/>
            <a:ext cx="502920" cy="338328"/>
          </a:xfrm>
          <a:prstGeom prst="line">
            <a:avLst/>
          </a:prstGeom>
          <a:ln w="19050">
            <a:solidFill>
              <a:srgbClr val="5C697A"/>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1828800" y="3273552"/>
            <a:ext cx="502920" cy="18288"/>
          </a:xfrm>
          <a:prstGeom prst="line">
            <a:avLst/>
          </a:prstGeom>
          <a:ln w="19050">
            <a:solidFill>
              <a:srgbClr val="5C697A"/>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V="1">
            <a:off x="1828800" y="4480560"/>
            <a:ext cx="502920" cy="301752"/>
          </a:xfrm>
          <a:prstGeom prst="line">
            <a:avLst/>
          </a:prstGeom>
          <a:ln w="19050">
            <a:solidFill>
              <a:srgbClr val="5C697A"/>
            </a:solidFill>
          </a:ln>
        </p:spPr>
        <p:style>
          <a:lnRef idx="2">
            <a:schemeClr val="accent1"/>
          </a:lnRef>
          <a:fillRef idx="0">
            <a:schemeClr val="accent1"/>
          </a:fillRef>
          <a:effectRef idx="1">
            <a:schemeClr val="accent1"/>
          </a:effectRef>
          <a:fontRef idx="minor">
            <a:schemeClr val="tx1"/>
          </a:fontRef>
        </p:style>
      </p:cxnSp>
      <p:sp>
        <p:nvSpPr>
          <p:cNvPr id="40" name="Rounded Rectangle 39"/>
          <p:cNvSpPr/>
          <p:nvPr/>
        </p:nvSpPr>
        <p:spPr>
          <a:xfrm>
            <a:off x="2423160" y="1307592"/>
            <a:ext cx="5303520" cy="310896"/>
          </a:xfrm>
          <a:prstGeom prst="roundRect">
            <a:avLst>
              <a:gd name="adj" fmla="val 12000"/>
            </a:avLst>
          </a:prstGeom>
          <a:solidFill>
            <a:srgbClr val="E4EFFA"/>
          </a:solidFill>
          <a:ln>
            <a:solidFill>
              <a:srgbClr val="E4EFF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2496312" y="1316736"/>
            <a:ext cx="5157216" cy="274320"/>
          </a:xfrm>
          <a:prstGeom prst="rect">
            <a:avLst/>
          </a:prstGeom>
          <a:noFill/>
        </p:spPr>
        <p:txBody>
          <a:bodyPr wrap="square" anchor="ctr">
            <a:spAutoFit/>
          </a:bodyPr>
          <a:lstStyle/>
          <a:p>
            <a:pPr algn="ctr"/>
            <a:r>
              <a:rPr sz="900" b="1">
                <a:solidFill>
                  <a:srgbClr val="0A2453"/>
                </a:solidFill>
                <a:latin typeface="Aptos"/>
              </a:rPr>
              <a:t>Shared: Log In • Role Permissions • Session</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6858000"/>
          </a:xfrm>
          <a:prstGeom prst="rect">
            <a:avLst/>
          </a:prstGeom>
          <a:solidFill>
            <a:srgbClr val="F6F9FC"/>
          </a:solidFill>
          <a:ln>
            <a:solidFill>
              <a:srgbClr val="F6F9F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9144000" cy="109728"/>
          </a:xfrm>
          <a:prstGeom prst="rect">
            <a:avLst/>
          </a:prstGeom>
          <a:solidFill>
            <a:srgbClr val="0A2453"/>
          </a:solidFill>
          <a:ln>
            <a:solidFill>
              <a:srgbClr val="0A245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56032"/>
            <a:ext cx="8138160" cy="411480"/>
          </a:xfrm>
          <a:prstGeom prst="rect">
            <a:avLst/>
          </a:prstGeom>
          <a:noFill/>
        </p:spPr>
        <p:txBody>
          <a:bodyPr wrap="square" anchor="ctr">
            <a:spAutoFit/>
          </a:bodyPr>
          <a:lstStyle/>
          <a:p>
            <a:pPr algn="l"/>
            <a:r>
              <a:rPr sz="2300" b="1">
                <a:solidFill>
                  <a:srgbClr val="0A2453"/>
                </a:solidFill>
                <a:latin typeface="Aptos"/>
              </a:rPr>
              <a:t>SEQUENCE DIAGRAM</a:t>
            </a:r>
          </a:p>
        </p:txBody>
      </p:sp>
      <p:sp>
        <p:nvSpPr>
          <p:cNvPr id="5" name="TextBox 4"/>
          <p:cNvSpPr txBox="1"/>
          <p:nvPr/>
        </p:nvSpPr>
        <p:spPr>
          <a:xfrm>
            <a:off x="521207" y="685800"/>
            <a:ext cx="8101583" cy="256032"/>
          </a:xfrm>
          <a:prstGeom prst="rect">
            <a:avLst/>
          </a:prstGeom>
          <a:noFill/>
        </p:spPr>
        <p:txBody>
          <a:bodyPr wrap="square" anchor="ctr">
            <a:spAutoFit/>
          </a:bodyPr>
          <a:lstStyle/>
          <a:p>
            <a:pPr algn="l"/>
            <a:r>
              <a:rPr sz="950" b="0">
                <a:solidFill>
                  <a:srgbClr val="5C697A"/>
                </a:solidFill>
                <a:latin typeface="Aptos"/>
              </a:rPr>
              <a:t>End-to-end interaction across actors, frontend, API and data store</a:t>
            </a:r>
          </a:p>
        </p:txBody>
      </p:sp>
      <p:sp>
        <p:nvSpPr>
          <p:cNvPr id="6" name="Rectangle 5"/>
          <p:cNvSpPr/>
          <p:nvPr/>
        </p:nvSpPr>
        <p:spPr>
          <a:xfrm>
            <a:off x="502920" y="987552"/>
            <a:ext cx="685800" cy="36576"/>
          </a:xfrm>
          <a:prstGeom prst="rect">
            <a:avLst/>
          </a:prstGeom>
          <a:solidFill>
            <a:srgbClr val="EFB13F"/>
          </a:solidFill>
          <a:ln>
            <a:solidFill>
              <a:srgbClr val="EFB13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458200" y="6510528"/>
            <a:ext cx="320040" cy="182880"/>
          </a:xfrm>
          <a:prstGeom prst="rect">
            <a:avLst/>
          </a:prstGeom>
          <a:noFill/>
        </p:spPr>
        <p:txBody>
          <a:bodyPr wrap="square" anchor="ctr">
            <a:spAutoFit/>
          </a:bodyPr>
          <a:lstStyle/>
          <a:p>
            <a:pPr algn="r"/>
            <a:r>
              <a:rPr sz="900" b="1">
                <a:solidFill>
                  <a:srgbClr val="5C697A"/>
                </a:solidFill>
                <a:latin typeface="Aptos"/>
              </a:rPr>
              <a:t>18</a:t>
            </a:r>
          </a:p>
        </p:txBody>
      </p:sp>
      <p:sp>
        <p:nvSpPr>
          <p:cNvPr id="8" name="TextBox 7"/>
          <p:cNvSpPr txBox="1"/>
          <p:nvPr/>
        </p:nvSpPr>
        <p:spPr>
          <a:xfrm>
            <a:off x="502920" y="6510528"/>
            <a:ext cx="2011680" cy="182880"/>
          </a:xfrm>
          <a:prstGeom prst="rect">
            <a:avLst/>
          </a:prstGeom>
          <a:noFill/>
        </p:spPr>
        <p:txBody>
          <a:bodyPr wrap="square" anchor="ctr">
            <a:spAutoFit/>
          </a:bodyPr>
          <a:lstStyle/>
          <a:p>
            <a:pPr algn="l"/>
            <a:r>
              <a:rPr sz="800" b="1">
                <a:solidFill>
                  <a:srgbClr val="5C697A"/>
                </a:solidFill>
                <a:latin typeface="Aptos"/>
              </a:rPr>
              <a:t>GROUP 10 • CAFÉ POS</a:t>
            </a:r>
          </a:p>
        </p:txBody>
      </p:sp>
      <p:pic>
        <p:nvPicPr>
          <p:cNvPr id="9" name="Picture 8" descr="IMG-20260907-WA0002.jpg"/>
          <p:cNvPicPr>
            <a:picLocks noChangeAspect="1"/>
          </p:cNvPicPr>
          <p:nvPr/>
        </p:nvPicPr>
        <p:blipFill>
          <a:blip r:embed="rId2"/>
          <a:stretch>
            <a:fillRect/>
          </a:stretch>
        </p:blipFill>
        <p:spPr>
          <a:xfrm>
            <a:off x="566928" y="1143000"/>
            <a:ext cx="3173730" cy="5440680"/>
          </a:xfrm>
          <a:prstGeom prst="rect">
            <a:avLst/>
          </a:prstGeom>
        </p:spPr>
      </p:pic>
      <p:sp>
        <p:nvSpPr>
          <p:cNvPr id="10" name="Rounded Rectangle 9"/>
          <p:cNvSpPr/>
          <p:nvPr/>
        </p:nvSpPr>
        <p:spPr>
          <a:xfrm>
            <a:off x="3977639" y="1234440"/>
            <a:ext cx="4434840" cy="5074920"/>
          </a:xfrm>
          <a:prstGeom prst="roundRect">
            <a:avLst>
              <a:gd name="adj" fmla="val 12000"/>
            </a:avLst>
          </a:prstGeom>
          <a:solidFill>
            <a:srgbClr val="FFFFFF"/>
          </a:solidFill>
          <a:ln>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4251960" y="1481328"/>
            <a:ext cx="1051560" cy="310896"/>
          </a:xfrm>
          <a:prstGeom prst="roundRect">
            <a:avLst>
              <a:gd name="adj" fmla="val 12000"/>
            </a:avLst>
          </a:prstGeom>
          <a:solidFill>
            <a:srgbClr val="FFF6DC"/>
          </a:solidFill>
          <a:ln>
            <a:solidFill>
              <a:srgbClr val="FFF6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325112" y="1490472"/>
            <a:ext cx="905255" cy="274320"/>
          </a:xfrm>
          <a:prstGeom prst="rect">
            <a:avLst/>
          </a:prstGeom>
          <a:noFill/>
        </p:spPr>
        <p:txBody>
          <a:bodyPr wrap="square" anchor="ctr">
            <a:spAutoFit/>
          </a:bodyPr>
          <a:lstStyle/>
          <a:p>
            <a:pPr algn="ctr"/>
            <a:r>
              <a:rPr sz="900" b="1">
                <a:solidFill>
                  <a:srgbClr val="0A2453"/>
                </a:solidFill>
                <a:latin typeface="Aptos"/>
              </a:rPr>
              <a:t>KEY FLOW</a:t>
            </a:r>
          </a:p>
        </p:txBody>
      </p:sp>
      <p:sp>
        <p:nvSpPr>
          <p:cNvPr id="13" name="Rounded Rectangle 12"/>
          <p:cNvSpPr/>
          <p:nvPr/>
        </p:nvSpPr>
        <p:spPr>
          <a:xfrm>
            <a:off x="4251960" y="1901952"/>
            <a:ext cx="384048" cy="384048"/>
          </a:xfrm>
          <a:prstGeom prst="roundRect">
            <a:avLst>
              <a:gd name="adj" fmla="val 12000"/>
            </a:avLst>
          </a:prstGeom>
          <a:solidFill>
            <a:srgbClr val="0A2453"/>
          </a:solidFill>
          <a:ln>
            <a:solidFill>
              <a:srgbClr val="0A245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251960" y="1901952"/>
            <a:ext cx="384048" cy="384048"/>
          </a:xfrm>
          <a:prstGeom prst="rect">
            <a:avLst/>
          </a:prstGeom>
          <a:noFill/>
        </p:spPr>
        <p:txBody>
          <a:bodyPr wrap="square" anchor="ctr">
            <a:spAutoFit/>
          </a:bodyPr>
          <a:lstStyle/>
          <a:p>
            <a:pPr algn="ctr"/>
            <a:r>
              <a:rPr sz="1100" b="1">
                <a:solidFill>
                  <a:srgbClr val="FFFFFF"/>
                </a:solidFill>
                <a:latin typeface="Aptos"/>
              </a:rPr>
              <a:t>1</a:t>
            </a:r>
          </a:p>
        </p:txBody>
      </p:sp>
      <p:sp>
        <p:nvSpPr>
          <p:cNvPr id="15" name="TextBox 14"/>
          <p:cNvSpPr txBox="1"/>
          <p:nvPr/>
        </p:nvSpPr>
        <p:spPr>
          <a:xfrm>
            <a:off x="4754880" y="1883664"/>
            <a:ext cx="1417320" cy="228600"/>
          </a:xfrm>
          <a:prstGeom prst="rect">
            <a:avLst/>
          </a:prstGeom>
          <a:noFill/>
        </p:spPr>
        <p:txBody>
          <a:bodyPr wrap="square" anchor="ctr">
            <a:spAutoFit/>
          </a:bodyPr>
          <a:lstStyle/>
          <a:p>
            <a:pPr algn="l"/>
            <a:r>
              <a:rPr sz="1100" b="1">
                <a:solidFill>
                  <a:srgbClr val="0A2453"/>
                </a:solidFill>
                <a:latin typeface="Aptos"/>
              </a:rPr>
              <a:t>Load menu</a:t>
            </a:r>
          </a:p>
        </p:txBody>
      </p:sp>
      <p:sp>
        <p:nvSpPr>
          <p:cNvPr id="16" name="TextBox 15"/>
          <p:cNvSpPr txBox="1"/>
          <p:nvPr/>
        </p:nvSpPr>
        <p:spPr>
          <a:xfrm>
            <a:off x="4754880" y="2112264"/>
            <a:ext cx="3337560" cy="347472"/>
          </a:xfrm>
          <a:prstGeom prst="rect">
            <a:avLst/>
          </a:prstGeom>
          <a:noFill/>
        </p:spPr>
        <p:txBody>
          <a:bodyPr wrap="square" anchor="t">
            <a:spAutoFit/>
          </a:bodyPr>
          <a:lstStyle/>
          <a:p>
            <a:pPr algn="l"/>
            <a:r>
              <a:rPr sz="919" b="0">
                <a:solidFill>
                  <a:srgbClr val="222D3D"/>
                </a:solidFill>
                <a:latin typeface="Aptos"/>
              </a:rPr>
              <a:t>Frontend reads categories and menu/stock through the API.</a:t>
            </a:r>
          </a:p>
        </p:txBody>
      </p:sp>
      <p:sp>
        <p:nvSpPr>
          <p:cNvPr id="17" name="Rounded Rectangle 16"/>
          <p:cNvSpPr/>
          <p:nvPr/>
        </p:nvSpPr>
        <p:spPr>
          <a:xfrm>
            <a:off x="4251960" y="2596896"/>
            <a:ext cx="384048" cy="384048"/>
          </a:xfrm>
          <a:prstGeom prst="roundRect">
            <a:avLst>
              <a:gd name="adj" fmla="val 12000"/>
            </a:avLst>
          </a:prstGeom>
          <a:solidFill>
            <a:srgbClr val="0A2453"/>
          </a:solidFill>
          <a:ln>
            <a:solidFill>
              <a:srgbClr val="0A245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251960" y="2596896"/>
            <a:ext cx="384048" cy="384048"/>
          </a:xfrm>
          <a:prstGeom prst="rect">
            <a:avLst/>
          </a:prstGeom>
          <a:noFill/>
        </p:spPr>
        <p:txBody>
          <a:bodyPr wrap="square" anchor="ctr">
            <a:spAutoFit/>
          </a:bodyPr>
          <a:lstStyle/>
          <a:p>
            <a:pPr algn="ctr"/>
            <a:r>
              <a:rPr sz="1100" b="1">
                <a:solidFill>
                  <a:srgbClr val="FFFFFF"/>
                </a:solidFill>
                <a:latin typeface="Aptos"/>
              </a:rPr>
              <a:t>2</a:t>
            </a:r>
          </a:p>
        </p:txBody>
      </p:sp>
      <p:sp>
        <p:nvSpPr>
          <p:cNvPr id="19" name="TextBox 18"/>
          <p:cNvSpPr txBox="1"/>
          <p:nvPr/>
        </p:nvSpPr>
        <p:spPr>
          <a:xfrm>
            <a:off x="4754880" y="2578608"/>
            <a:ext cx="1417320" cy="228600"/>
          </a:xfrm>
          <a:prstGeom prst="rect">
            <a:avLst/>
          </a:prstGeom>
          <a:noFill/>
        </p:spPr>
        <p:txBody>
          <a:bodyPr wrap="square" anchor="ctr">
            <a:spAutoFit/>
          </a:bodyPr>
          <a:lstStyle/>
          <a:p>
            <a:pPr algn="l"/>
            <a:r>
              <a:rPr sz="1100" b="1">
                <a:solidFill>
                  <a:srgbClr val="0A2453"/>
                </a:solidFill>
                <a:latin typeface="Aptos"/>
              </a:rPr>
              <a:t>Authenticate</a:t>
            </a:r>
          </a:p>
        </p:txBody>
      </p:sp>
      <p:sp>
        <p:nvSpPr>
          <p:cNvPr id="20" name="TextBox 19"/>
          <p:cNvSpPr txBox="1"/>
          <p:nvPr/>
        </p:nvSpPr>
        <p:spPr>
          <a:xfrm>
            <a:off x="4754880" y="2807208"/>
            <a:ext cx="3337560" cy="347472"/>
          </a:xfrm>
          <a:prstGeom prst="rect">
            <a:avLst/>
          </a:prstGeom>
          <a:noFill/>
        </p:spPr>
        <p:txBody>
          <a:bodyPr wrap="square" anchor="t">
            <a:spAutoFit/>
          </a:bodyPr>
          <a:lstStyle/>
          <a:p>
            <a:pPr algn="l"/>
            <a:r>
              <a:rPr sz="919" b="0">
                <a:solidFill>
                  <a:srgbClr val="222D3D"/>
                </a:solidFill>
                <a:latin typeface="Aptos"/>
              </a:rPr>
              <a:t>Login creates a session token and establishes the active role.</a:t>
            </a:r>
          </a:p>
        </p:txBody>
      </p:sp>
      <p:sp>
        <p:nvSpPr>
          <p:cNvPr id="21" name="Rounded Rectangle 20"/>
          <p:cNvSpPr/>
          <p:nvPr/>
        </p:nvSpPr>
        <p:spPr>
          <a:xfrm>
            <a:off x="4251960" y="3291840"/>
            <a:ext cx="384048" cy="384048"/>
          </a:xfrm>
          <a:prstGeom prst="roundRect">
            <a:avLst>
              <a:gd name="adj" fmla="val 12000"/>
            </a:avLst>
          </a:prstGeom>
          <a:solidFill>
            <a:srgbClr val="0A2453"/>
          </a:solidFill>
          <a:ln>
            <a:solidFill>
              <a:srgbClr val="0A245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251960" y="3291840"/>
            <a:ext cx="384048" cy="384048"/>
          </a:xfrm>
          <a:prstGeom prst="rect">
            <a:avLst/>
          </a:prstGeom>
          <a:noFill/>
        </p:spPr>
        <p:txBody>
          <a:bodyPr wrap="square" anchor="ctr">
            <a:spAutoFit/>
          </a:bodyPr>
          <a:lstStyle/>
          <a:p>
            <a:pPr algn="ctr"/>
            <a:r>
              <a:rPr sz="1100" b="1">
                <a:solidFill>
                  <a:srgbClr val="FFFFFF"/>
                </a:solidFill>
                <a:latin typeface="Aptos"/>
              </a:rPr>
              <a:t>3</a:t>
            </a:r>
          </a:p>
        </p:txBody>
      </p:sp>
      <p:sp>
        <p:nvSpPr>
          <p:cNvPr id="23" name="TextBox 22"/>
          <p:cNvSpPr txBox="1"/>
          <p:nvPr/>
        </p:nvSpPr>
        <p:spPr>
          <a:xfrm>
            <a:off x="4754880" y="3273552"/>
            <a:ext cx="1417320" cy="228600"/>
          </a:xfrm>
          <a:prstGeom prst="rect">
            <a:avLst/>
          </a:prstGeom>
          <a:noFill/>
        </p:spPr>
        <p:txBody>
          <a:bodyPr wrap="square" anchor="ctr">
            <a:spAutoFit/>
          </a:bodyPr>
          <a:lstStyle/>
          <a:p>
            <a:pPr algn="l"/>
            <a:r>
              <a:rPr sz="1100" b="1">
                <a:solidFill>
                  <a:srgbClr val="0A2453"/>
                </a:solidFill>
                <a:latin typeface="Aptos"/>
              </a:rPr>
              <a:t>Order &amp; pay</a:t>
            </a:r>
          </a:p>
        </p:txBody>
      </p:sp>
      <p:sp>
        <p:nvSpPr>
          <p:cNvPr id="24" name="TextBox 23"/>
          <p:cNvSpPr txBox="1"/>
          <p:nvPr/>
        </p:nvSpPr>
        <p:spPr>
          <a:xfrm>
            <a:off x="4754880" y="3502152"/>
            <a:ext cx="3337560" cy="347472"/>
          </a:xfrm>
          <a:prstGeom prst="rect">
            <a:avLst/>
          </a:prstGeom>
          <a:noFill/>
        </p:spPr>
        <p:txBody>
          <a:bodyPr wrap="square" anchor="t">
            <a:spAutoFit/>
          </a:bodyPr>
          <a:lstStyle/>
          <a:p>
            <a:pPr algn="l"/>
            <a:r>
              <a:rPr sz="919" b="0">
                <a:solidFill>
                  <a:srgbClr val="222D3D"/>
                </a:solidFill>
                <a:latin typeface="Aptos"/>
              </a:rPr>
              <a:t>Order is validated, saved, then payment updates the order and stock.</a:t>
            </a:r>
          </a:p>
        </p:txBody>
      </p:sp>
      <p:sp>
        <p:nvSpPr>
          <p:cNvPr id="25" name="Rounded Rectangle 24"/>
          <p:cNvSpPr/>
          <p:nvPr/>
        </p:nvSpPr>
        <p:spPr>
          <a:xfrm>
            <a:off x="4251960" y="3986784"/>
            <a:ext cx="384048" cy="384048"/>
          </a:xfrm>
          <a:prstGeom prst="roundRect">
            <a:avLst>
              <a:gd name="adj" fmla="val 12000"/>
            </a:avLst>
          </a:prstGeom>
          <a:solidFill>
            <a:srgbClr val="0A2453"/>
          </a:solidFill>
          <a:ln>
            <a:solidFill>
              <a:srgbClr val="0A245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4251960" y="3986784"/>
            <a:ext cx="384048" cy="384048"/>
          </a:xfrm>
          <a:prstGeom prst="rect">
            <a:avLst/>
          </a:prstGeom>
          <a:noFill/>
        </p:spPr>
        <p:txBody>
          <a:bodyPr wrap="square" anchor="ctr">
            <a:spAutoFit/>
          </a:bodyPr>
          <a:lstStyle/>
          <a:p>
            <a:pPr algn="ctr"/>
            <a:r>
              <a:rPr sz="1100" b="1">
                <a:solidFill>
                  <a:srgbClr val="FFFFFF"/>
                </a:solidFill>
                <a:latin typeface="Aptos"/>
              </a:rPr>
              <a:t>4</a:t>
            </a:r>
          </a:p>
        </p:txBody>
      </p:sp>
      <p:sp>
        <p:nvSpPr>
          <p:cNvPr id="27" name="TextBox 26"/>
          <p:cNvSpPr txBox="1"/>
          <p:nvPr/>
        </p:nvSpPr>
        <p:spPr>
          <a:xfrm>
            <a:off x="4754880" y="3968496"/>
            <a:ext cx="1417320" cy="228600"/>
          </a:xfrm>
          <a:prstGeom prst="rect">
            <a:avLst/>
          </a:prstGeom>
          <a:noFill/>
        </p:spPr>
        <p:txBody>
          <a:bodyPr wrap="square" anchor="ctr">
            <a:spAutoFit/>
          </a:bodyPr>
          <a:lstStyle/>
          <a:p>
            <a:pPr algn="l"/>
            <a:r>
              <a:rPr sz="1100" b="1">
                <a:solidFill>
                  <a:srgbClr val="0A2453"/>
                </a:solidFill>
                <a:latin typeface="Aptos"/>
              </a:rPr>
              <a:t>Progress service</a:t>
            </a:r>
          </a:p>
        </p:txBody>
      </p:sp>
      <p:sp>
        <p:nvSpPr>
          <p:cNvPr id="28" name="TextBox 27"/>
          <p:cNvSpPr txBox="1"/>
          <p:nvPr/>
        </p:nvSpPr>
        <p:spPr>
          <a:xfrm>
            <a:off x="4754880" y="4197096"/>
            <a:ext cx="3337560" cy="347472"/>
          </a:xfrm>
          <a:prstGeom prst="rect">
            <a:avLst/>
          </a:prstGeom>
          <a:noFill/>
        </p:spPr>
        <p:txBody>
          <a:bodyPr wrap="square" anchor="t">
            <a:spAutoFit/>
          </a:bodyPr>
          <a:lstStyle/>
          <a:p>
            <a:pPr algn="l"/>
            <a:r>
              <a:rPr sz="919" b="0">
                <a:solidFill>
                  <a:srgbClr val="222D3D"/>
                </a:solidFill>
                <a:latin typeface="Aptos"/>
              </a:rPr>
              <a:t>Cashier advances the order through permitted states.</a:t>
            </a:r>
          </a:p>
        </p:txBody>
      </p:sp>
      <p:sp>
        <p:nvSpPr>
          <p:cNvPr id="29" name="Rounded Rectangle 28"/>
          <p:cNvSpPr/>
          <p:nvPr/>
        </p:nvSpPr>
        <p:spPr>
          <a:xfrm>
            <a:off x="4251960" y="4681728"/>
            <a:ext cx="384048" cy="384048"/>
          </a:xfrm>
          <a:prstGeom prst="roundRect">
            <a:avLst>
              <a:gd name="adj" fmla="val 12000"/>
            </a:avLst>
          </a:prstGeom>
          <a:solidFill>
            <a:srgbClr val="0A2453"/>
          </a:solidFill>
          <a:ln>
            <a:solidFill>
              <a:srgbClr val="0A245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4251960" y="4681728"/>
            <a:ext cx="384048" cy="384048"/>
          </a:xfrm>
          <a:prstGeom prst="rect">
            <a:avLst/>
          </a:prstGeom>
          <a:noFill/>
        </p:spPr>
        <p:txBody>
          <a:bodyPr wrap="square" anchor="ctr">
            <a:spAutoFit/>
          </a:bodyPr>
          <a:lstStyle/>
          <a:p>
            <a:pPr algn="ctr"/>
            <a:r>
              <a:rPr sz="1100" b="1">
                <a:solidFill>
                  <a:srgbClr val="FFFFFF"/>
                </a:solidFill>
                <a:latin typeface="Aptos"/>
              </a:rPr>
              <a:t>5</a:t>
            </a:r>
          </a:p>
        </p:txBody>
      </p:sp>
      <p:sp>
        <p:nvSpPr>
          <p:cNvPr id="31" name="TextBox 30"/>
          <p:cNvSpPr txBox="1"/>
          <p:nvPr/>
        </p:nvSpPr>
        <p:spPr>
          <a:xfrm>
            <a:off x="4754880" y="4663440"/>
            <a:ext cx="1417320" cy="228600"/>
          </a:xfrm>
          <a:prstGeom prst="rect">
            <a:avLst/>
          </a:prstGeom>
          <a:noFill/>
        </p:spPr>
        <p:txBody>
          <a:bodyPr wrap="square" anchor="ctr">
            <a:spAutoFit/>
          </a:bodyPr>
          <a:lstStyle/>
          <a:p>
            <a:pPr algn="l"/>
            <a:r>
              <a:rPr sz="1100" b="1">
                <a:solidFill>
                  <a:srgbClr val="0A2453"/>
                </a:solidFill>
                <a:latin typeface="Aptos"/>
              </a:rPr>
              <a:t>Exception handling</a:t>
            </a:r>
          </a:p>
        </p:txBody>
      </p:sp>
      <p:sp>
        <p:nvSpPr>
          <p:cNvPr id="32" name="TextBox 31"/>
          <p:cNvSpPr txBox="1"/>
          <p:nvPr/>
        </p:nvSpPr>
        <p:spPr>
          <a:xfrm>
            <a:off x="4754880" y="4892040"/>
            <a:ext cx="3337560" cy="347472"/>
          </a:xfrm>
          <a:prstGeom prst="rect">
            <a:avLst/>
          </a:prstGeom>
          <a:noFill/>
        </p:spPr>
        <p:txBody>
          <a:bodyPr wrap="square" anchor="t">
            <a:spAutoFit/>
          </a:bodyPr>
          <a:lstStyle/>
          <a:p>
            <a:pPr algn="l"/>
            <a:r>
              <a:rPr sz="919" b="0">
                <a:solidFill>
                  <a:srgbClr val="222D3D"/>
                </a:solidFill>
                <a:latin typeface="Aptos"/>
              </a:rPr>
              <a:t>Refund requests and voids follow controlled manager decisions.</a:t>
            </a:r>
          </a:p>
        </p:txBody>
      </p:sp>
      <p:sp>
        <p:nvSpPr>
          <p:cNvPr id="33" name="Rounded Rectangle 32"/>
          <p:cNvSpPr/>
          <p:nvPr/>
        </p:nvSpPr>
        <p:spPr>
          <a:xfrm>
            <a:off x="4251960" y="5376672"/>
            <a:ext cx="384048" cy="384048"/>
          </a:xfrm>
          <a:prstGeom prst="roundRect">
            <a:avLst>
              <a:gd name="adj" fmla="val 12000"/>
            </a:avLst>
          </a:prstGeom>
          <a:solidFill>
            <a:srgbClr val="0A2453"/>
          </a:solidFill>
          <a:ln>
            <a:solidFill>
              <a:srgbClr val="0A245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4251960" y="5376672"/>
            <a:ext cx="384048" cy="384048"/>
          </a:xfrm>
          <a:prstGeom prst="rect">
            <a:avLst/>
          </a:prstGeom>
          <a:noFill/>
        </p:spPr>
        <p:txBody>
          <a:bodyPr wrap="square" anchor="ctr">
            <a:spAutoFit/>
          </a:bodyPr>
          <a:lstStyle/>
          <a:p>
            <a:pPr algn="ctr"/>
            <a:r>
              <a:rPr sz="1100" b="1">
                <a:solidFill>
                  <a:srgbClr val="FFFFFF"/>
                </a:solidFill>
                <a:latin typeface="Aptos"/>
              </a:rPr>
              <a:t>6</a:t>
            </a:r>
          </a:p>
        </p:txBody>
      </p:sp>
      <p:sp>
        <p:nvSpPr>
          <p:cNvPr id="35" name="TextBox 34"/>
          <p:cNvSpPr txBox="1"/>
          <p:nvPr/>
        </p:nvSpPr>
        <p:spPr>
          <a:xfrm>
            <a:off x="4754880" y="5358384"/>
            <a:ext cx="1417320" cy="228600"/>
          </a:xfrm>
          <a:prstGeom prst="rect">
            <a:avLst/>
          </a:prstGeom>
          <a:noFill/>
        </p:spPr>
        <p:txBody>
          <a:bodyPr wrap="square" anchor="ctr">
            <a:spAutoFit/>
          </a:bodyPr>
          <a:lstStyle/>
          <a:p>
            <a:pPr algn="l"/>
            <a:r>
              <a:rPr sz="1100" b="1">
                <a:solidFill>
                  <a:srgbClr val="0A2453"/>
                </a:solidFill>
                <a:latin typeface="Aptos"/>
              </a:rPr>
              <a:t>Maintain menu</a:t>
            </a:r>
          </a:p>
        </p:txBody>
      </p:sp>
      <p:sp>
        <p:nvSpPr>
          <p:cNvPr id="36" name="TextBox 35"/>
          <p:cNvSpPr txBox="1"/>
          <p:nvPr/>
        </p:nvSpPr>
        <p:spPr>
          <a:xfrm>
            <a:off x="4754880" y="5586984"/>
            <a:ext cx="3337560" cy="347472"/>
          </a:xfrm>
          <a:prstGeom prst="rect">
            <a:avLst/>
          </a:prstGeom>
          <a:noFill/>
        </p:spPr>
        <p:txBody>
          <a:bodyPr wrap="square" anchor="t">
            <a:spAutoFit/>
          </a:bodyPr>
          <a:lstStyle/>
          <a:p>
            <a:pPr algn="l"/>
            <a:r>
              <a:rPr sz="919" b="0">
                <a:solidFill>
                  <a:srgbClr val="222D3D"/>
                </a:solidFill>
                <a:latin typeface="Aptos"/>
              </a:rPr>
              <a:t>Manager adds or edits menu items through protected endpoints.</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F9C9D"/>
      </a:accent5>
      <a:accent6>
        <a:srgbClr val="9E5E9B"/>
      </a:accent6>
      <a:hlink>
        <a:srgbClr val="58C1BA"/>
      </a:hlink>
      <a:folHlink>
        <a:srgbClr val="9DD0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Template>
  <TotalTime>660</TotalTime>
  <Words>1128</Words>
  <Application>Microsoft Office PowerPoint</Application>
  <PresentationFormat>On-screen Show (4:3)</PresentationFormat>
  <Paragraphs>234</Paragraphs>
  <Slides>18</Slides>
  <Notes>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Aptos</vt:lpstr>
      <vt:lpstr>Arial</vt:lpstr>
      <vt:lpstr>Calibri</vt:lpstr>
      <vt:lpstr>Century Gothic</vt:lpstr>
      <vt:lpstr>Wingdings</vt:lpstr>
      <vt:lpstr>Wingdings 3</vt:lpstr>
      <vt:lpstr>Ion</vt:lpstr>
      <vt:lpstr>CAFE POINT OF SALE SYSTEM     INCEPTION PHASE  </vt:lpstr>
      <vt:lpstr>PROBLEM STATEMENT</vt:lpstr>
      <vt:lpstr>BUSINESS CASE</vt:lpstr>
      <vt:lpstr>HIGH-LEVEL REQUIREMENTS</vt:lpstr>
      <vt:lpstr>CONTINUATION OF HIGH-LEVEL REQUIREMENTS</vt:lpstr>
      <vt:lpstr>USE CASES (10%)</vt:lpstr>
      <vt:lpstr>RISKS LIST &amp; FEASIBILITY STUDY</vt:lpstr>
      <vt:lpstr>FEASIBILITY STUDY</vt:lpstr>
      <vt:lpstr>CONTINUATION OF FEASIBILITY STUDY</vt:lpstr>
      <vt:lpstr>CONTINUATION OF FEASIBILITY STUDY</vt:lpstr>
      <vt:lpstr>CONTINUITION OF FEASIBILITY STUDY</vt:lpstr>
      <vt:lpstr>ITERATION PLAN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CAFE POS SYSTEM   Inception Phase Group 10</dc:title>
  <dc:subject/>
  <dc:creator>Taonga_ C_ Chisi</dc:creator>
  <cp:keywords/>
  <dc:description>generated using python-pptx</dc:description>
  <cp:lastModifiedBy>CHINGWALA BRIGHT</cp:lastModifiedBy>
  <cp:revision>15</cp:revision>
  <dcterms:created xsi:type="dcterms:W3CDTF">2013-01-27T09:14:16Z</dcterms:created>
  <dcterms:modified xsi:type="dcterms:W3CDTF">2026-09-07T08:04:58Z</dcterms:modified>
  <cp:category/>
</cp:coreProperties>
</file>