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4"/>
  </p:notesMasterIdLst>
  <p:sldIdLst>
    <p:sldId id="269" r:id="rId2"/>
    <p:sldId id="258" r:id="rId3"/>
    <p:sldId id="259" r:id="rId4"/>
    <p:sldId id="260" r:id="rId5"/>
    <p:sldId id="264" r:id="rId6"/>
    <p:sldId id="261" r:id="rId7"/>
    <p:sldId id="262" r:id="rId8"/>
    <p:sldId id="265" r:id="rId9"/>
    <p:sldId id="266" r:id="rId10"/>
    <p:sldId id="267" r:id="rId11"/>
    <p:sldId id="268" r:id="rId12"/>
    <p:sldId id="263"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7764" autoAdjust="0"/>
  </p:normalViewPr>
  <p:slideViewPr>
    <p:cSldViewPr snapToGrid="0" snapToObjects="1">
      <p:cViewPr varScale="1">
        <p:scale>
          <a:sx n="53" d="100"/>
          <a:sy n="53" d="100"/>
        </p:scale>
        <p:origin x="189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C8CDD6-4A3C-4EA6-ACD4-91D26DE43C25}" type="datetimeFigureOut">
              <a:rPr lang="en-GB" smtClean="0"/>
              <a:t>26/02/2026</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4A94A8-6395-47BF-8D37-463AA6B2204C}" type="slidenum">
              <a:rPr lang="en-GB" smtClean="0"/>
              <a:t>‹#›</a:t>
            </a:fld>
            <a:endParaRPr lang="en-GB"/>
          </a:p>
        </p:txBody>
      </p:sp>
    </p:spTree>
    <p:extLst>
      <p:ext uri="{BB962C8B-B14F-4D97-AF65-F5344CB8AC3E}">
        <p14:creationId xmlns:p14="http://schemas.microsoft.com/office/powerpoint/2010/main" val="17492717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Problem Statement</a:t>
            </a:r>
            <a:endParaRPr lang="en-GB" sz="1200" b="1"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Cafés face slow ordering, pricing mistakes, unclear role separation, and difficulty tracking daily sales. The POS system eliminates manual errors, accelerates service, and centralizes operations through a fast, browser-based interface.</a:t>
            </a:r>
            <a:endParaRPr lang="en-GB"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BC4A94A8-6395-47BF-8D37-463AA6B2204C}" type="slidenum">
              <a:rPr lang="en-GB" smtClean="0"/>
              <a:t>2</a:t>
            </a:fld>
            <a:endParaRPr lang="en-GB"/>
          </a:p>
        </p:txBody>
      </p:sp>
    </p:spTree>
    <p:extLst>
      <p:ext uri="{BB962C8B-B14F-4D97-AF65-F5344CB8AC3E}">
        <p14:creationId xmlns:p14="http://schemas.microsoft.com/office/powerpoint/2010/main" val="2652289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Business Case</a:t>
            </a:r>
            <a:endParaRPr lang="en-GB" sz="1200" b="1"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Stakeholder Benefits:</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Owners: Accurate revenue tracking, reduced fraud.</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Cashiers: Faster workflow, fewer mistakes.</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Customers: Quicker service.</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Business: Reduced training overhead, improved decision making.</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system provides strong ROI by speeding up order processing, reducing errors, and improving customer satisfaction.</a:t>
            </a:r>
            <a:endParaRPr lang="en-GB"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BC4A94A8-6395-47BF-8D37-463AA6B2204C}" type="slidenum">
              <a:rPr lang="en-GB" smtClean="0"/>
              <a:t>3</a:t>
            </a:fld>
            <a:endParaRPr lang="en-GB"/>
          </a:p>
        </p:txBody>
      </p:sp>
    </p:spTree>
    <p:extLst>
      <p:ext uri="{BB962C8B-B14F-4D97-AF65-F5344CB8AC3E}">
        <p14:creationId xmlns:p14="http://schemas.microsoft.com/office/powerpoint/2010/main" val="19541370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Non‑Functional Requirements:</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Touch-friendly UI</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Fast performance</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Offline capability</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Role‑based permissions</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Simple deployment</a:t>
            </a:r>
            <a:endParaRPr lang="en-GB" dirty="0"/>
          </a:p>
        </p:txBody>
      </p:sp>
      <p:sp>
        <p:nvSpPr>
          <p:cNvPr id="4" name="Slide Number Placeholder 3"/>
          <p:cNvSpPr>
            <a:spLocks noGrp="1"/>
          </p:cNvSpPr>
          <p:nvPr>
            <p:ph type="sldNum" sz="quarter" idx="10"/>
          </p:nvPr>
        </p:nvSpPr>
        <p:spPr/>
        <p:txBody>
          <a:bodyPr/>
          <a:lstStyle/>
          <a:p>
            <a:fld id="{BC4A94A8-6395-47BF-8D37-463AA6B2204C}" type="slidenum">
              <a:rPr lang="en-GB" smtClean="0"/>
              <a:t>4</a:t>
            </a:fld>
            <a:endParaRPr lang="en-GB"/>
          </a:p>
        </p:txBody>
      </p:sp>
    </p:spTree>
    <p:extLst>
      <p:ext uri="{BB962C8B-B14F-4D97-AF65-F5344CB8AC3E}">
        <p14:creationId xmlns:p14="http://schemas.microsoft.com/office/powerpoint/2010/main" val="1542434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Example Use Cases (10%)</a:t>
            </a:r>
            <a:endParaRPr lang="en-GB" sz="1200" b="1"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UC1: Create Order – Cashier selects menu items, adjusts quantities, enters customer name, submits order.</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UC2: Adjust Quantity – Cashier increases or decreases item quantities.</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UC3: Approve Pending Order – Manager reviews and approves/rejects.</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UC4: View Daily Summary – Manager views metrics and exports data.</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UC5: Switch Role – User toggles between cashier and manager modes.</a:t>
            </a:r>
            <a:endParaRPr lang="en-GB"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BC4A94A8-6395-47BF-8D37-463AA6B2204C}" type="slidenum">
              <a:rPr lang="en-GB" smtClean="0"/>
              <a:t>6</a:t>
            </a:fld>
            <a:endParaRPr lang="en-GB"/>
          </a:p>
        </p:txBody>
      </p:sp>
    </p:spTree>
    <p:extLst>
      <p:ext uri="{BB962C8B-B14F-4D97-AF65-F5344CB8AC3E}">
        <p14:creationId xmlns:p14="http://schemas.microsoft.com/office/powerpoint/2010/main" val="37943743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Risk List &amp; Feasibility</a:t>
            </a:r>
            <a:endParaRPr lang="en-GB" sz="1200" b="1"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Technical Risks:</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Local storage may lead to data loss.</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No authentication layer reduces manager security.</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Performance may degrade with large data sets.</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Business Risks:</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Staff may struggle to adopt new system.</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Mitigation:</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Future cloud sync</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Authentication enhancement</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UI/UX iterative improvement</a:t>
            </a:r>
            <a:endParaRPr lang="en-GB"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BC4A94A8-6395-47BF-8D37-463AA6B2204C}" type="slidenum">
              <a:rPr lang="en-GB" smtClean="0"/>
              <a:t>7</a:t>
            </a:fld>
            <a:endParaRPr lang="en-GB"/>
          </a:p>
        </p:txBody>
      </p:sp>
    </p:spTree>
    <p:extLst>
      <p:ext uri="{BB962C8B-B14F-4D97-AF65-F5344CB8AC3E}">
        <p14:creationId xmlns:p14="http://schemas.microsoft.com/office/powerpoint/2010/main" val="27454513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4A94A8-6395-47BF-8D37-463AA6B2204C}" type="slidenum">
              <a:rPr lang="en-GB" smtClean="0"/>
              <a:t>8</a:t>
            </a:fld>
            <a:endParaRPr lang="en-GB"/>
          </a:p>
        </p:txBody>
      </p:sp>
    </p:spTree>
    <p:extLst>
      <p:ext uri="{BB962C8B-B14F-4D97-AF65-F5344CB8AC3E}">
        <p14:creationId xmlns:p14="http://schemas.microsoft.com/office/powerpoint/2010/main" val="28726127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Iteration Plan (Unified Process)</a:t>
            </a:r>
            <a:endParaRPr lang="en-GB" sz="1200" b="1"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Inception:</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Vision, high-level requirements, risk list.</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Elaboration:</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Architecture design, UI wireframes, detailed use cases.</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Construction:</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Order module</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Manager approvals</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Daily summary</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Data persistence</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Full UI</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Transition:</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Deployment</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Documentation</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Training</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Bug fixes</a:t>
            </a:r>
            <a:endParaRPr lang="en-GB"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BC4A94A8-6395-47BF-8D37-463AA6B2204C}" type="slidenum">
              <a:rPr lang="en-GB" smtClean="0"/>
              <a:t>12</a:t>
            </a:fld>
            <a:endParaRPr lang="en-GB"/>
          </a:p>
        </p:txBody>
      </p:sp>
    </p:spTree>
    <p:extLst>
      <p:ext uri="{BB962C8B-B14F-4D97-AF65-F5344CB8AC3E}">
        <p14:creationId xmlns:p14="http://schemas.microsoft.com/office/powerpoint/2010/main" val="39392321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442" y="1447801"/>
            <a:ext cx="662096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866442" y="4777380"/>
            <a:ext cx="662096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20511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5BCAD085-E8A6-8845-BD4E-CB4CCA059FC4}" type="datetimeFigureOut">
              <a:rPr lang="en-US" smtClean="0"/>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276548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443" y="2861734"/>
            <a:ext cx="662096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804683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27700" y="2060576"/>
            <a:ext cx="3298113"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41975" y="2056093"/>
            <a:ext cx="3298115"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2/26/2026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167948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27700" y="1905000"/>
            <a:ext cx="32981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7700"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41976" y="1905000"/>
            <a:ext cx="3298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241976"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2/26/2026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252773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5BCAD085-E8A6-8845-BD4E-CB4CCA059FC4}" type="datetimeFigureOut">
              <a:rPr lang="en-US" smtClean="0"/>
              <a:t>2/26/2026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756737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5BCAD085-E8A6-8845-BD4E-CB4CCA059FC4}" type="datetimeFigureOut">
              <a:rPr lang="en-US" smtClean="0"/>
              <a:t>2/26/2026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08407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1" y="1447800"/>
            <a:ext cx="2551462"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589397" y="1447800"/>
            <a:ext cx="3898013"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6441" y="3129281"/>
            <a:ext cx="25514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5BCAD085-E8A6-8845-BD4E-CB4CCA059FC4}" type="datetimeFigureOut">
              <a:rPr lang="en-US" smtClean="0"/>
              <a:t>2/26/2026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619885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656" y="1854192"/>
            <a:ext cx="3820674"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13517" y="1143000"/>
            <a:ext cx="2400925"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1" y="3657600"/>
            <a:ext cx="3814728"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610727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3" y="4800587"/>
            <a:ext cx="66209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442" y="685800"/>
            <a:ext cx="662096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3" y="5367325"/>
            <a:ext cx="662096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265906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2" y="1447800"/>
            <a:ext cx="6620968"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866442" y="3657600"/>
            <a:ext cx="6620968"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562893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409" y="1447800"/>
            <a:ext cx="6001049"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448177" y="3771174"/>
            <a:ext cx="546115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866442" y="4350657"/>
            <a:ext cx="6620968"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2" name="TextBox 11"/>
          <p:cNvSpPr txBox="1"/>
          <p:nvPr/>
        </p:nvSpPr>
        <p:spPr>
          <a:xfrm>
            <a:off x="673897" y="971253"/>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
        <p:nvSpPr>
          <p:cNvPr id="15" name="TextBox 14"/>
          <p:cNvSpPr txBox="1"/>
          <p:nvPr/>
        </p:nvSpPr>
        <p:spPr>
          <a:xfrm>
            <a:off x="6999690" y="2613787"/>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Tree>
    <p:extLst>
      <p:ext uri="{BB962C8B-B14F-4D97-AF65-F5344CB8AC3E}">
        <p14:creationId xmlns:p14="http://schemas.microsoft.com/office/powerpoint/2010/main" val="33226261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441" y="3124201"/>
            <a:ext cx="662096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295078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74834" y="1981200"/>
            <a:ext cx="22107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489475" y="2667000"/>
            <a:ext cx="219608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2913504" y="1981200"/>
            <a:ext cx="2202754"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2905586" y="2667000"/>
            <a:ext cx="2210671"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344917" y="1981200"/>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5344917" y="2667000"/>
            <a:ext cx="2199658"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2/26/2026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143283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89475" y="4250949"/>
            <a:ext cx="22056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489475" y="2209800"/>
            <a:ext cx="2205612"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489475" y="4827212"/>
            <a:ext cx="2205612"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2917792" y="4250949"/>
            <a:ext cx="21984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2917791" y="2209800"/>
            <a:ext cx="2198466"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2916776" y="4827211"/>
            <a:ext cx="2201378"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344917" y="4250949"/>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5344916" y="2209800"/>
            <a:ext cx="219965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5344824" y="4827209"/>
            <a:ext cx="2202571"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2/26/2026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975206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405796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9782" y="430214"/>
            <a:ext cx="1314793"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89475" y="773205"/>
            <a:ext cx="5568812" cy="54831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207570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Oval 21"/>
          <p:cNvSpPr/>
          <p:nvPr/>
        </p:nvSpPr>
        <p:spPr>
          <a:xfrm>
            <a:off x="629943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457200"/>
            <a:ext cx="1600200" cy="1600200"/>
          </a:xfrm>
          <a:prstGeom prst="ellipse">
            <a:avLst/>
          </a:prstGeom>
          <a:gradFill flip="none" rotWithShape="1">
            <a:gsLst>
              <a:gs pos="0">
                <a:schemeClr val="bg2">
                  <a:lumMod val="60000"/>
                  <a:lumOff val="40000"/>
                  <a:alpha val="14000"/>
                </a:schemeClr>
              </a:gs>
              <a:gs pos="73000">
                <a:schemeClr val="bg2">
                  <a:lumMod val="60000"/>
                  <a:lumOff val="40000"/>
                  <a:alpha val="0"/>
                </a:schemeClr>
              </a:gs>
              <a:gs pos="36000">
                <a:schemeClr val="bg2">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6096000"/>
            <a:ext cx="990600" cy="990600"/>
          </a:xfrm>
          <a:prstGeom prst="ellipse">
            <a:avLst/>
          </a:prstGeom>
          <a:gradFill flip="none" rotWithShape="1">
            <a:gsLst>
              <a:gs pos="0">
                <a:schemeClr val="bg2">
                  <a:lumMod val="60000"/>
                  <a:lumOff val="40000"/>
                  <a:alpha val="9000"/>
                </a:schemeClr>
              </a:gs>
              <a:gs pos="66000">
                <a:schemeClr val="bg2">
                  <a:lumMod val="60000"/>
                  <a:lumOff val="40000"/>
                  <a:alpha val="0"/>
                </a:schemeClr>
              </a:gs>
              <a:gs pos="36000">
                <a:schemeClr val="bg2">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3988" y="2667000"/>
            <a:ext cx="4191000" cy="4191000"/>
          </a:xfrm>
          <a:prstGeom prst="ellipse">
            <a:avLst/>
          </a:prstGeom>
          <a:gradFill flip="none" rotWithShape="1">
            <a:gsLst>
              <a:gs pos="0">
                <a:schemeClr val="bg2">
                  <a:lumMod val="60000"/>
                  <a:lumOff val="40000"/>
                  <a:alpha val="11000"/>
                </a:schemeClr>
              </a:gs>
              <a:gs pos="75000">
                <a:schemeClr val="bg2">
                  <a:lumMod val="60000"/>
                  <a:lumOff val="40000"/>
                  <a:alpha val="0"/>
                </a:schemeClr>
              </a:gs>
              <a:gs pos="36000">
                <a:schemeClr val="bg2">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39788" y="2895600"/>
            <a:ext cx="2362200" cy="2362200"/>
          </a:xfrm>
          <a:prstGeom prst="ellipse">
            <a:avLst/>
          </a:prstGeom>
          <a:gradFill flip="none" rotWithShape="1">
            <a:gsLst>
              <a:gs pos="0">
                <a:schemeClr val="bg2">
                  <a:lumMod val="60000"/>
                  <a:lumOff val="40000"/>
                  <a:alpha val="8000"/>
                </a:schemeClr>
              </a:gs>
              <a:gs pos="72000">
                <a:schemeClr val="bg2">
                  <a:lumMod val="60000"/>
                  <a:lumOff val="40000"/>
                  <a:alpha val="0"/>
                </a:schemeClr>
              </a:gs>
              <a:gs pos="36000">
                <a:schemeClr val="bg2">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710" y="452718"/>
            <a:ext cx="7055380"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827700" y="2052925"/>
            <a:ext cx="6711654"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7494989" y="1828771"/>
            <a:ext cx="990599" cy="22865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5BCAD085-E8A6-8845-BD4E-CB4CCA059FC4}" type="datetimeFigureOut">
              <a:rPr lang="en-US" smtClean="0"/>
              <a:t>2/26/2026</a:t>
            </a:fld>
            <a:endParaRPr lang="en-US"/>
          </a:p>
        </p:txBody>
      </p:sp>
      <p:sp>
        <p:nvSpPr>
          <p:cNvPr id="5" name="Footer Placeholder 4"/>
          <p:cNvSpPr>
            <a:spLocks noGrp="1"/>
          </p:cNvSpPr>
          <p:nvPr>
            <p:ph type="ftr" sz="quarter" idx="3"/>
          </p:nvPr>
        </p:nvSpPr>
        <p:spPr>
          <a:xfrm rot="5400000">
            <a:off x="6233335" y="3263371"/>
            <a:ext cx="3859795" cy="228660"/>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7766431" y="295736"/>
            <a:ext cx="628813" cy="767687"/>
          </a:xfrm>
          <a:prstGeom prst="rect">
            <a:avLst/>
          </a:prstGeom>
        </p:spPr>
        <p:txBody>
          <a:bodyPr vert="horz" lIns="91440" tIns="45720" rIns="91440" bIns="45720" rtlCol="0" anchor="b"/>
          <a:lstStyle>
            <a:lvl1pPr algn="ctr">
              <a:defRPr sz="2801" b="0" i="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04308039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7" rtl="0" eaLnBrk="1" latinLnBrk="0" hangingPunct="1">
        <a:defRPr sz="1800" kern="1200">
          <a:solidFill>
            <a:schemeClr val="tx1"/>
          </a:solidFill>
          <a:latin typeface="+mn-lt"/>
          <a:ea typeface="+mn-ea"/>
          <a:cs typeface="+mn-cs"/>
        </a:defRPr>
      </a:lvl1pPr>
      <a:lvl2pPr marL="457207" algn="l" defTabSz="457207" rtl="0" eaLnBrk="1" latinLnBrk="0" hangingPunct="1">
        <a:defRPr sz="1800" kern="1200">
          <a:solidFill>
            <a:schemeClr val="tx1"/>
          </a:solidFill>
          <a:latin typeface="+mn-lt"/>
          <a:ea typeface="+mn-ea"/>
          <a:cs typeface="+mn-cs"/>
        </a:defRPr>
      </a:lvl2pPr>
      <a:lvl3pPr marL="914415" algn="l" defTabSz="457207" rtl="0" eaLnBrk="1" latinLnBrk="0" hangingPunct="1">
        <a:defRPr sz="1800" kern="1200">
          <a:solidFill>
            <a:schemeClr val="tx1"/>
          </a:solidFill>
          <a:latin typeface="+mn-lt"/>
          <a:ea typeface="+mn-ea"/>
          <a:cs typeface="+mn-cs"/>
        </a:defRPr>
      </a:lvl3pPr>
      <a:lvl4pPr marL="1371622" algn="l" defTabSz="457207" rtl="0" eaLnBrk="1" latinLnBrk="0" hangingPunct="1">
        <a:defRPr sz="1800" kern="1200">
          <a:solidFill>
            <a:schemeClr val="tx1"/>
          </a:solidFill>
          <a:latin typeface="+mn-lt"/>
          <a:ea typeface="+mn-ea"/>
          <a:cs typeface="+mn-cs"/>
        </a:defRPr>
      </a:lvl4pPr>
      <a:lvl5pPr marL="1828831" algn="l" defTabSz="457207" rtl="0" eaLnBrk="1" latinLnBrk="0" hangingPunct="1">
        <a:defRPr sz="1800" kern="1200">
          <a:solidFill>
            <a:schemeClr val="tx1"/>
          </a:solidFill>
          <a:latin typeface="+mn-lt"/>
          <a:ea typeface="+mn-ea"/>
          <a:cs typeface="+mn-cs"/>
        </a:defRPr>
      </a:lvl5pPr>
      <a:lvl6pPr marL="2286038" algn="l" defTabSz="457207" rtl="0" eaLnBrk="1" latinLnBrk="0" hangingPunct="1">
        <a:defRPr sz="1800" kern="1200">
          <a:solidFill>
            <a:schemeClr val="tx1"/>
          </a:solidFill>
          <a:latin typeface="+mn-lt"/>
          <a:ea typeface="+mn-ea"/>
          <a:cs typeface="+mn-cs"/>
        </a:defRPr>
      </a:lvl6pPr>
      <a:lvl7pPr marL="2743246" algn="l" defTabSz="457207" rtl="0" eaLnBrk="1" latinLnBrk="0" hangingPunct="1">
        <a:defRPr sz="1800" kern="1200">
          <a:solidFill>
            <a:schemeClr val="tx1"/>
          </a:solidFill>
          <a:latin typeface="+mn-lt"/>
          <a:ea typeface="+mn-ea"/>
          <a:cs typeface="+mn-cs"/>
        </a:defRPr>
      </a:lvl7pPr>
      <a:lvl8pPr marL="3200453" algn="l" defTabSz="457207" rtl="0" eaLnBrk="1" latinLnBrk="0" hangingPunct="1">
        <a:defRPr sz="1800" kern="1200">
          <a:solidFill>
            <a:schemeClr val="tx1"/>
          </a:solidFill>
          <a:latin typeface="+mn-lt"/>
          <a:ea typeface="+mn-ea"/>
          <a:cs typeface="+mn-cs"/>
        </a:defRPr>
      </a:lvl8pPr>
      <a:lvl9pPr marL="3657661" algn="l" defTabSz="45720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88009-9982-9140-BA1F-41560C5F7007}"/>
              </a:ext>
            </a:extLst>
          </p:cNvPr>
          <p:cNvSpPr>
            <a:spLocks noGrp="1"/>
          </p:cNvSpPr>
          <p:nvPr>
            <p:ph type="title"/>
          </p:nvPr>
        </p:nvSpPr>
        <p:spPr>
          <a:xfrm>
            <a:off x="484710" y="263769"/>
            <a:ext cx="7850398" cy="1688123"/>
          </a:xfrm>
        </p:spPr>
        <p:txBody>
          <a:bodyPr/>
          <a:lstStyle/>
          <a:p>
            <a:pPr algn="ctr"/>
            <a:r>
              <a:rPr lang="en-GB" sz="6000" b="1" dirty="0"/>
              <a:t>CAFE POINT OF SALE SYSTEM </a:t>
            </a:r>
            <a:br>
              <a:rPr lang="en-GB" sz="6000" b="1" dirty="0"/>
            </a:br>
            <a:r>
              <a:rPr lang="en-GB" sz="6000" b="1" dirty="0"/>
              <a:t> </a:t>
            </a:r>
            <a:br>
              <a:rPr lang="en-GB" sz="6000" b="1" dirty="0"/>
            </a:br>
            <a:br>
              <a:rPr lang="en-GB" sz="6000" dirty="0"/>
            </a:br>
            <a:r>
              <a:rPr lang="en-GB" sz="6000" dirty="0"/>
              <a:t>INCEPTION PHASE</a:t>
            </a:r>
            <a:br>
              <a:rPr lang="en-GB" sz="6000" dirty="0"/>
            </a:br>
            <a:br>
              <a:rPr lang="en-GB" sz="6000" dirty="0"/>
            </a:br>
            <a:endParaRPr lang="en-US" sz="6000" dirty="0"/>
          </a:p>
        </p:txBody>
      </p:sp>
    </p:spTree>
    <p:extLst>
      <p:ext uri="{BB962C8B-B14F-4D97-AF65-F5344CB8AC3E}">
        <p14:creationId xmlns:p14="http://schemas.microsoft.com/office/powerpoint/2010/main" val="29641450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 STATEMENT</a:t>
            </a:r>
          </a:p>
        </p:txBody>
      </p:sp>
      <p:sp>
        <p:nvSpPr>
          <p:cNvPr id="3" name="Content Placeholder 2"/>
          <p:cNvSpPr>
            <a:spLocks noGrp="1"/>
          </p:cNvSpPr>
          <p:nvPr>
            <p:ph idx="1"/>
          </p:nvPr>
        </p:nvSpPr>
        <p:spPr>
          <a:xfrm>
            <a:off x="827700" y="1635369"/>
            <a:ext cx="6711654" cy="4613037"/>
          </a:xfrm>
        </p:spPr>
        <p:txBody>
          <a:bodyPr/>
          <a:lstStyle/>
          <a:p>
            <a:r>
              <a:rPr lang="en-US" dirty="0"/>
              <a:t>The café has a slow ordering system leading to customer dissatisfaction and manual tracking of sales through book keeping with no automatic way of identifying sold items and automatically calculating sales leading to susceptibility of loosing records.</a:t>
            </a:r>
          </a:p>
          <a:p>
            <a:r>
              <a:rPr lang="en-US" dirty="0"/>
              <a:t>This gap creates a demand for a website to automate the café’s sales and stock.</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BUSINESS CASE</a:t>
            </a:r>
          </a:p>
        </p:txBody>
      </p:sp>
      <p:sp>
        <p:nvSpPr>
          <p:cNvPr id="3" name="Content Placeholder 2"/>
          <p:cNvSpPr>
            <a:spLocks noGrp="1"/>
          </p:cNvSpPr>
          <p:nvPr>
            <p:ph idx="1"/>
          </p:nvPr>
        </p:nvSpPr>
        <p:spPr/>
        <p:txBody>
          <a:bodyPr/>
          <a:lstStyle/>
          <a:p>
            <a:r>
              <a:rPr lang="en-US" dirty="0"/>
              <a:t>Creating a point of sale system will benefit the stakeholders in the following ways;</a:t>
            </a:r>
          </a:p>
          <a:p>
            <a:pPr>
              <a:buFont typeface="Arial" panose="020B0604020202020204" pitchFamily="34" charset="0"/>
              <a:buChar char="•"/>
            </a:pPr>
            <a:r>
              <a:rPr dirty="0"/>
              <a:t>Owners: </a:t>
            </a:r>
            <a:r>
              <a:rPr lang="en-US" dirty="0"/>
              <a:t>They will attain a</a:t>
            </a:r>
            <a:r>
              <a:rPr dirty="0"/>
              <a:t>ccurate revenue</a:t>
            </a:r>
          </a:p>
          <a:p>
            <a:pPr>
              <a:buFont typeface="Arial" panose="020B0604020202020204" pitchFamily="34" charset="0"/>
              <a:buChar char="•"/>
            </a:pPr>
            <a:r>
              <a:rPr dirty="0"/>
              <a:t>Cashiers: Faster workflow</a:t>
            </a:r>
          </a:p>
          <a:p>
            <a:pPr>
              <a:buFont typeface="Arial" panose="020B0604020202020204" pitchFamily="34" charset="0"/>
              <a:buChar char="•"/>
            </a:pPr>
            <a:r>
              <a:rPr dirty="0"/>
              <a:t>Customers:</a:t>
            </a:r>
            <a:r>
              <a:rPr lang="en-US" dirty="0"/>
              <a:t> </a:t>
            </a:r>
            <a:r>
              <a:rPr dirty="0"/>
              <a:t> Quicker service</a:t>
            </a:r>
          </a:p>
          <a:p>
            <a:pPr>
              <a:buFont typeface="Arial" panose="020B0604020202020204" pitchFamily="34" charset="0"/>
              <a:buChar char="•"/>
            </a:pPr>
            <a:r>
              <a:rPr lang="en-US" dirty="0"/>
              <a:t>Business: Reduced training overhead and improved decision making.</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4710" y="452718"/>
            <a:ext cx="7055380" cy="859356"/>
          </a:xfrm>
        </p:spPr>
        <p:txBody>
          <a:bodyPr/>
          <a:lstStyle/>
          <a:p>
            <a:r>
              <a:rPr lang="en-US" sz="4000" dirty="0"/>
              <a:t>HIGH-LEVEL REQUIREMENTS</a:t>
            </a:r>
          </a:p>
        </p:txBody>
      </p:sp>
      <p:sp>
        <p:nvSpPr>
          <p:cNvPr id="3" name="Content Placeholder 2"/>
          <p:cNvSpPr>
            <a:spLocks noGrp="1"/>
          </p:cNvSpPr>
          <p:nvPr>
            <p:ph idx="1"/>
          </p:nvPr>
        </p:nvSpPr>
        <p:spPr>
          <a:xfrm>
            <a:off x="615462" y="1811215"/>
            <a:ext cx="7649307" cy="4594066"/>
          </a:xfrm>
        </p:spPr>
        <p:txBody>
          <a:bodyPr>
            <a:normAutofit/>
          </a:bodyPr>
          <a:lstStyle/>
          <a:p>
            <a:r>
              <a:rPr lang="en-GB" dirty="0"/>
              <a:t>FUNCTIONAL REQUIREMENTS</a:t>
            </a:r>
          </a:p>
          <a:p>
            <a:pPr>
              <a:buFont typeface="Wingdings" panose="05000000000000000000" pitchFamily="2" charset="2"/>
              <a:buChar char="§"/>
            </a:pPr>
            <a:r>
              <a:rPr lang="en-US" dirty="0"/>
              <a:t>Role switching (Cashier/Manager)</a:t>
            </a:r>
            <a:endParaRPr lang="en-GB" dirty="0"/>
          </a:p>
          <a:p>
            <a:pPr>
              <a:buFont typeface="Wingdings" panose="05000000000000000000" pitchFamily="2" charset="2"/>
              <a:buChar char="§"/>
            </a:pPr>
            <a:r>
              <a:rPr lang="en-US" dirty="0"/>
              <a:t>Category-based menu</a:t>
            </a:r>
            <a:endParaRPr lang="en-GB" dirty="0"/>
          </a:p>
          <a:p>
            <a:pPr>
              <a:buFont typeface="Wingdings" panose="05000000000000000000" pitchFamily="2" charset="2"/>
              <a:buChar char="§"/>
            </a:pPr>
            <a:r>
              <a:rPr lang="en-US" dirty="0"/>
              <a:t>Order creation, quantity adjustments, clearing orders</a:t>
            </a:r>
            <a:endParaRPr lang="en-GB" dirty="0"/>
          </a:p>
          <a:p>
            <a:pPr>
              <a:buFont typeface="Wingdings" panose="05000000000000000000" pitchFamily="2" charset="2"/>
              <a:buChar char="§"/>
            </a:pPr>
            <a:r>
              <a:rPr lang="en-US" dirty="0"/>
              <a:t>Payment by cash or card</a:t>
            </a:r>
            <a:endParaRPr lang="en-GB" dirty="0"/>
          </a:p>
          <a:p>
            <a:pPr>
              <a:buFont typeface="Wingdings" panose="05000000000000000000" pitchFamily="2" charset="2"/>
              <a:buChar char="§"/>
            </a:pPr>
            <a:r>
              <a:rPr lang="en-US" dirty="0"/>
              <a:t>Pending approval system for managers</a:t>
            </a:r>
            <a:endParaRPr lang="en-GB" dirty="0"/>
          </a:p>
          <a:p>
            <a:pPr>
              <a:buFont typeface="Wingdings" panose="05000000000000000000" pitchFamily="2" charset="2"/>
              <a:buChar char="§"/>
            </a:pPr>
            <a:r>
              <a:rPr lang="en-US" dirty="0"/>
              <a:t>Daily summary with revenue, top items, statistics</a:t>
            </a:r>
            <a:endParaRPr lang="en-GB" dirty="0"/>
          </a:p>
          <a:p>
            <a:pPr>
              <a:buFont typeface="Wingdings" panose="05000000000000000000" pitchFamily="2" charset="2"/>
              <a:buChar char="§"/>
            </a:pPr>
            <a:r>
              <a:rPr lang="en-US" dirty="0"/>
              <a:t>Local storage for offline operation</a:t>
            </a:r>
            <a:endParaRPr lang="en-GB" dirty="0"/>
          </a:p>
          <a:p>
            <a:pPr>
              <a:buFont typeface="Wingdings" panose="05000000000000000000" pitchFamily="2" charset="2"/>
              <a:buChar char="v"/>
            </a:pPr>
            <a:endParaRPr lang="en-GB"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E7A07-7B42-45CF-E32E-6BAB26248BCF}"/>
              </a:ext>
            </a:extLst>
          </p:cNvPr>
          <p:cNvSpPr>
            <a:spLocks noGrp="1"/>
          </p:cNvSpPr>
          <p:nvPr>
            <p:ph type="title"/>
          </p:nvPr>
        </p:nvSpPr>
        <p:spPr>
          <a:xfrm>
            <a:off x="484710" y="452718"/>
            <a:ext cx="7055380" cy="971636"/>
          </a:xfrm>
        </p:spPr>
        <p:txBody>
          <a:bodyPr/>
          <a:lstStyle/>
          <a:p>
            <a:r>
              <a:rPr lang="en-US" dirty="0"/>
              <a:t>CONTINUATION OF HIGH-LEVEL REQUIREMENTS</a:t>
            </a:r>
          </a:p>
        </p:txBody>
      </p:sp>
      <p:sp>
        <p:nvSpPr>
          <p:cNvPr id="3" name="Content Placeholder 2">
            <a:extLst>
              <a:ext uri="{FF2B5EF4-FFF2-40B4-BE49-F238E27FC236}">
                <a16:creationId xmlns:a16="http://schemas.microsoft.com/office/drawing/2014/main" id="{7D64E348-9988-8462-73B3-20716BA1C880}"/>
              </a:ext>
            </a:extLst>
          </p:cNvPr>
          <p:cNvSpPr>
            <a:spLocks noGrp="1"/>
          </p:cNvSpPr>
          <p:nvPr>
            <p:ph idx="1"/>
          </p:nvPr>
        </p:nvSpPr>
        <p:spPr/>
        <p:txBody>
          <a:bodyPr/>
          <a:lstStyle/>
          <a:p>
            <a:r>
              <a:rPr lang="en-US" dirty="0"/>
              <a:t>NON- FUNTIONAL REQUIREMENTS</a:t>
            </a:r>
          </a:p>
          <a:p>
            <a:pPr>
              <a:buFont typeface="Wingdings" panose="05000000000000000000" pitchFamily="2" charset="2"/>
              <a:buChar char="§"/>
            </a:pPr>
            <a:r>
              <a:rPr lang="en-GB" dirty="0"/>
              <a:t>Fast and responsive: The system must be fast and quick to handle peak hours without delay.</a:t>
            </a:r>
          </a:p>
          <a:p>
            <a:pPr>
              <a:buFont typeface="Wingdings" panose="05000000000000000000" pitchFamily="2" charset="2"/>
              <a:buChar char="§"/>
            </a:pPr>
            <a:r>
              <a:rPr lang="en-GB" dirty="0"/>
              <a:t>Reliability: The system must have minimal downtime</a:t>
            </a:r>
          </a:p>
          <a:p>
            <a:pPr>
              <a:buFont typeface="Wingdings" panose="05000000000000000000" pitchFamily="2" charset="2"/>
              <a:buChar char="§"/>
            </a:pPr>
            <a:r>
              <a:rPr lang="en-GB" dirty="0"/>
              <a:t>Security: The system must protect customer payment data  </a:t>
            </a:r>
          </a:p>
          <a:p>
            <a:pPr>
              <a:buFont typeface="Wingdings" panose="05000000000000000000" pitchFamily="2" charset="2"/>
              <a:buChar char="§"/>
            </a:pPr>
            <a:endParaRPr lang="en-US" dirty="0"/>
          </a:p>
        </p:txBody>
      </p:sp>
    </p:spTree>
    <p:extLst>
      <p:ext uri="{BB962C8B-B14F-4D97-AF65-F5344CB8AC3E}">
        <p14:creationId xmlns:p14="http://schemas.microsoft.com/office/powerpoint/2010/main" val="5439915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CASES (10%)</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
            </a:pPr>
            <a:r>
              <a:rPr dirty="0"/>
              <a:t>Create </a:t>
            </a:r>
            <a:r>
              <a:rPr lang="en-US" dirty="0"/>
              <a:t>Food </a:t>
            </a:r>
            <a:r>
              <a:rPr dirty="0"/>
              <a:t>Order</a:t>
            </a:r>
          </a:p>
          <a:p>
            <a:pPr>
              <a:buFont typeface="Wingdings" panose="05000000000000000000" pitchFamily="2" charset="2"/>
              <a:buChar char="§"/>
            </a:pPr>
            <a:r>
              <a:rPr dirty="0"/>
              <a:t>Approve Orders</a:t>
            </a:r>
          </a:p>
          <a:p>
            <a:pPr>
              <a:buFont typeface="Wingdings" panose="05000000000000000000" pitchFamily="2" charset="2"/>
              <a:buChar char="§"/>
            </a:pPr>
            <a:r>
              <a:rPr dirty="0"/>
              <a:t>View Daily Summary</a:t>
            </a:r>
            <a:endParaRPr lang="en-US" dirty="0"/>
          </a:p>
          <a:p>
            <a:pPr>
              <a:buFont typeface="Wingdings" panose="05000000000000000000" pitchFamily="2" charset="2"/>
              <a:buChar char="§"/>
            </a:pPr>
            <a:r>
              <a:rPr lang="en-US" dirty="0"/>
              <a:t>Process payment</a:t>
            </a:r>
            <a:endParaRPr lang="en-GB" dirty="0"/>
          </a:p>
          <a:p>
            <a:pPr marL="0" indent="0">
              <a:buNone/>
            </a:pP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4710" y="452718"/>
            <a:ext cx="7055380" cy="910256"/>
          </a:xfrm>
        </p:spPr>
        <p:txBody>
          <a:bodyPr/>
          <a:lstStyle/>
          <a:p>
            <a:r>
              <a:rPr lang="en-US" dirty="0"/>
              <a:t>RISKS LIST &amp; FEASIBILITY STUDY</a:t>
            </a:r>
          </a:p>
        </p:txBody>
      </p:sp>
      <p:sp>
        <p:nvSpPr>
          <p:cNvPr id="3" name="Content Placeholder 2"/>
          <p:cNvSpPr>
            <a:spLocks noGrp="1"/>
          </p:cNvSpPr>
          <p:nvPr>
            <p:ph idx="1"/>
          </p:nvPr>
        </p:nvSpPr>
        <p:spPr>
          <a:xfrm>
            <a:off x="828436" y="2033081"/>
            <a:ext cx="6711654" cy="4195481"/>
          </a:xfrm>
        </p:spPr>
        <p:txBody>
          <a:bodyPr>
            <a:normAutofit fontScale="77500" lnSpcReduction="20000"/>
          </a:bodyPr>
          <a:lstStyle/>
          <a:p>
            <a:r>
              <a:rPr lang="en-US" sz="2300" b="1" dirty="0"/>
              <a:t>RISK LIST</a:t>
            </a:r>
          </a:p>
          <a:p>
            <a:pPr>
              <a:buFont typeface="Wingdings" panose="05000000000000000000" pitchFamily="2" charset="2"/>
              <a:buChar char="§"/>
            </a:pPr>
            <a:r>
              <a:rPr b="1" dirty="0"/>
              <a:t>Technical</a:t>
            </a:r>
            <a:r>
              <a:rPr lang="en-US" b="1" dirty="0"/>
              <a:t> Risks</a:t>
            </a:r>
          </a:p>
          <a:p>
            <a:pPr>
              <a:buFont typeface="Wingdings" panose="05000000000000000000" pitchFamily="2" charset="2"/>
              <a:buChar char="v"/>
            </a:pPr>
            <a:r>
              <a:rPr lang="en-US" dirty="0"/>
              <a:t>System crashes during peak hours</a:t>
            </a:r>
          </a:p>
          <a:p>
            <a:pPr>
              <a:buFont typeface="Wingdings" panose="05000000000000000000" pitchFamily="2" charset="2"/>
              <a:buChar char="v"/>
            </a:pPr>
            <a:r>
              <a:rPr lang="en-US" dirty="0"/>
              <a:t>Server failure stopping order processing</a:t>
            </a:r>
          </a:p>
          <a:p>
            <a:pPr>
              <a:buFont typeface="Wingdings" panose="05000000000000000000" pitchFamily="2" charset="2"/>
              <a:buChar char="v"/>
            </a:pPr>
            <a:r>
              <a:rPr lang="en-US" dirty="0"/>
              <a:t>Slow system performance causing long queues.</a:t>
            </a:r>
          </a:p>
          <a:p>
            <a:pPr>
              <a:buFont typeface="Wingdings" panose="05000000000000000000" pitchFamily="2" charset="2"/>
              <a:buChar char="§"/>
            </a:pPr>
            <a:r>
              <a:rPr lang="en-US" b="1" dirty="0"/>
              <a:t>Operational Risks</a:t>
            </a:r>
          </a:p>
          <a:p>
            <a:pPr>
              <a:buFont typeface="Wingdings" panose="05000000000000000000" pitchFamily="2" charset="2"/>
              <a:buChar char="v"/>
            </a:pPr>
            <a:r>
              <a:rPr lang="en-US" dirty="0"/>
              <a:t> Orders not sent to kitchen</a:t>
            </a:r>
          </a:p>
          <a:p>
            <a:pPr>
              <a:buFont typeface="Wingdings" panose="05000000000000000000" pitchFamily="2" charset="2"/>
              <a:buChar char="v"/>
            </a:pPr>
            <a:r>
              <a:rPr lang="en-US" dirty="0"/>
              <a:t>Staff selecting wrong menu items</a:t>
            </a:r>
          </a:p>
          <a:p>
            <a:pPr>
              <a:buFont typeface="Wingdings" panose="05000000000000000000" pitchFamily="2" charset="2"/>
              <a:buChar char="v"/>
            </a:pPr>
            <a:r>
              <a:rPr lang="en-US" dirty="0"/>
              <a:t>Stock not updated automatically.</a:t>
            </a:r>
          </a:p>
          <a:p>
            <a:pPr>
              <a:buFont typeface="Wingdings" panose="05000000000000000000" pitchFamily="2" charset="2"/>
              <a:buChar char="v"/>
            </a:pPr>
            <a:r>
              <a:rPr lang="en-US" dirty="0"/>
              <a:t>Selling beverages that are out of stock</a:t>
            </a:r>
          </a:p>
          <a:p>
            <a:pPr>
              <a:buFont typeface="Wingdings" panose="05000000000000000000" pitchFamily="2" charset="2"/>
              <a:buChar char="§"/>
            </a:pPr>
            <a:r>
              <a:rPr lang="en-US" b="1" dirty="0"/>
              <a:t>Security Risks</a:t>
            </a:r>
          </a:p>
          <a:p>
            <a:pPr>
              <a:buFont typeface="Wingdings" panose="05000000000000000000" pitchFamily="2" charset="2"/>
              <a:buChar char="v"/>
            </a:pPr>
            <a:r>
              <a:rPr lang="en-US" dirty="0"/>
              <a:t> Customer payment data stolen</a:t>
            </a:r>
          </a:p>
          <a:p>
            <a:pPr>
              <a:buFont typeface="Wingdings" panose="05000000000000000000" pitchFamily="2" charset="2"/>
              <a:buChar char="v"/>
            </a:pPr>
            <a:r>
              <a:rPr lang="en-US" dirty="0"/>
              <a:t>Unauthorized access to sales records</a:t>
            </a:r>
          </a:p>
          <a:p>
            <a:pPr>
              <a:buFont typeface="Wingdings" panose="05000000000000000000" pitchFamily="2" charset="2"/>
              <a:buChar char="§"/>
            </a:pPr>
            <a:endParaRPr lang="en-US" dirty="0"/>
          </a:p>
          <a:p>
            <a:pPr marL="0" indent="0">
              <a:buNone/>
            </a:pPr>
            <a:endParaRPr lang="en-US" dirty="0"/>
          </a:p>
        </p:txBody>
      </p:sp>
    </p:spTree>
  </p:cSld>
  <p:clrMapOvr>
    <a:masterClrMapping/>
  </p:clrMapOvr>
  <p:transition spd="med">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600FC-82A1-F6C1-49F1-7AF3659C285D}"/>
              </a:ext>
            </a:extLst>
          </p:cNvPr>
          <p:cNvSpPr>
            <a:spLocks noGrp="1"/>
          </p:cNvSpPr>
          <p:nvPr>
            <p:ph type="title"/>
          </p:nvPr>
        </p:nvSpPr>
        <p:spPr/>
        <p:txBody>
          <a:bodyPr/>
          <a:lstStyle/>
          <a:p>
            <a:r>
              <a:rPr lang="en-US" dirty="0"/>
              <a:t>FEASIBILITY STUDY</a:t>
            </a:r>
          </a:p>
        </p:txBody>
      </p:sp>
      <p:sp>
        <p:nvSpPr>
          <p:cNvPr id="3" name="Content Placeholder 2">
            <a:extLst>
              <a:ext uri="{FF2B5EF4-FFF2-40B4-BE49-F238E27FC236}">
                <a16:creationId xmlns:a16="http://schemas.microsoft.com/office/drawing/2014/main" id="{FEDE1814-9D0C-D551-E36E-F7C602F5B2EF}"/>
              </a:ext>
            </a:extLst>
          </p:cNvPr>
          <p:cNvSpPr>
            <a:spLocks noGrp="1"/>
          </p:cNvSpPr>
          <p:nvPr>
            <p:ph idx="1"/>
          </p:nvPr>
        </p:nvSpPr>
        <p:spPr/>
        <p:txBody>
          <a:bodyPr/>
          <a:lstStyle/>
          <a:p>
            <a:r>
              <a:rPr lang="en-GB" b="1" dirty="0"/>
              <a:t>Technical Feasibility:</a:t>
            </a:r>
          </a:p>
          <a:p>
            <a:r>
              <a:rPr lang="en-GB" dirty="0"/>
              <a:t>The system can run on standard Windows</a:t>
            </a:r>
          </a:p>
          <a:p>
            <a:r>
              <a:rPr lang="en-GB" dirty="0"/>
              <a:t>The development tools(database, programming language) are available.</a:t>
            </a:r>
          </a:p>
          <a:p>
            <a:r>
              <a:rPr lang="en-GB" dirty="0"/>
              <a:t>The hardware is available</a:t>
            </a:r>
          </a:p>
          <a:p>
            <a:pPr marL="0" indent="0">
              <a:buNone/>
            </a:pPr>
            <a:endParaRPr lang="en-GB" b="1" dirty="0"/>
          </a:p>
          <a:p>
            <a:pPr marL="0" indent="0">
              <a:buNone/>
            </a:pPr>
            <a:r>
              <a:rPr lang="en-GB" b="1" dirty="0"/>
              <a:t>Conclusion:</a:t>
            </a:r>
            <a:r>
              <a:rPr lang="en-GB" dirty="0"/>
              <a:t> Technically feasible.</a:t>
            </a:r>
          </a:p>
          <a:p>
            <a:pPr>
              <a:buFont typeface="Arial" panose="020B0604020202020204" pitchFamily="34" charset="0"/>
              <a:buChar char="•"/>
            </a:pPr>
            <a:endParaRPr lang="en-GB" dirty="0"/>
          </a:p>
          <a:p>
            <a:pPr>
              <a:buFont typeface="Arial" panose="020B0604020202020204" pitchFamily="34" charset="0"/>
              <a:buChar char="•"/>
            </a:pPr>
            <a:endParaRPr lang="en-GB" dirty="0"/>
          </a:p>
          <a:p>
            <a:pPr>
              <a:buFont typeface="Arial" panose="020B0604020202020204" pitchFamily="34" charset="0"/>
              <a:buChar char="•"/>
            </a:pPr>
            <a:endParaRPr lang="en-GB" dirty="0"/>
          </a:p>
          <a:p>
            <a:endParaRPr lang="en-US" dirty="0"/>
          </a:p>
        </p:txBody>
      </p:sp>
    </p:spTree>
    <p:extLst>
      <p:ext uri="{BB962C8B-B14F-4D97-AF65-F5344CB8AC3E}">
        <p14:creationId xmlns:p14="http://schemas.microsoft.com/office/powerpoint/2010/main" val="14684427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06DF6-EFCA-3066-D9C5-8BB2A1F111CA}"/>
              </a:ext>
            </a:extLst>
          </p:cNvPr>
          <p:cNvSpPr>
            <a:spLocks noGrp="1"/>
          </p:cNvSpPr>
          <p:nvPr>
            <p:ph type="title"/>
          </p:nvPr>
        </p:nvSpPr>
        <p:spPr/>
        <p:txBody>
          <a:bodyPr/>
          <a:lstStyle/>
          <a:p>
            <a:r>
              <a:rPr lang="en-US" dirty="0"/>
              <a:t>CONTINUATION OF FEASIBILITY STUDY</a:t>
            </a:r>
          </a:p>
        </p:txBody>
      </p:sp>
      <p:sp>
        <p:nvSpPr>
          <p:cNvPr id="3" name="Content Placeholder 2">
            <a:extLst>
              <a:ext uri="{FF2B5EF4-FFF2-40B4-BE49-F238E27FC236}">
                <a16:creationId xmlns:a16="http://schemas.microsoft.com/office/drawing/2014/main" id="{D922DEC9-3B32-61FB-3891-7104A3786402}"/>
              </a:ext>
            </a:extLst>
          </p:cNvPr>
          <p:cNvSpPr>
            <a:spLocks noGrp="1"/>
          </p:cNvSpPr>
          <p:nvPr>
            <p:ph idx="1"/>
          </p:nvPr>
        </p:nvSpPr>
        <p:spPr/>
        <p:txBody>
          <a:bodyPr/>
          <a:lstStyle/>
          <a:p>
            <a:r>
              <a:rPr lang="en-GB" b="1" dirty="0"/>
              <a:t>Operational Feasibility</a:t>
            </a:r>
            <a:endParaRPr lang="en-GB" dirty="0"/>
          </a:p>
          <a:p>
            <a:pPr>
              <a:buFont typeface="Arial" panose="020B0604020202020204" pitchFamily="34" charset="0"/>
              <a:buChar char="•"/>
            </a:pPr>
            <a:r>
              <a:rPr lang="en-GB" dirty="0"/>
              <a:t>Simplifies order taking</a:t>
            </a:r>
          </a:p>
          <a:p>
            <a:pPr>
              <a:buFont typeface="Arial" panose="020B0604020202020204" pitchFamily="34" charset="0"/>
              <a:buChar char="•"/>
            </a:pPr>
            <a:r>
              <a:rPr lang="en-GB" dirty="0"/>
              <a:t>Faster billing</a:t>
            </a:r>
          </a:p>
          <a:p>
            <a:pPr>
              <a:buFont typeface="Arial" panose="020B0604020202020204" pitchFamily="34" charset="0"/>
              <a:buChar char="•"/>
            </a:pPr>
            <a:r>
              <a:rPr lang="en-GB" dirty="0"/>
              <a:t>Reduced human error</a:t>
            </a:r>
          </a:p>
          <a:p>
            <a:pPr>
              <a:buFont typeface="Arial" panose="020B0604020202020204" pitchFamily="34" charset="0"/>
              <a:buChar char="•"/>
            </a:pPr>
            <a:r>
              <a:rPr lang="en-GB" dirty="0"/>
              <a:t>Easy reporting for management</a:t>
            </a:r>
          </a:p>
          <a:p>
            <a:pPr marL="0" indent="0">
              <a:buNone/>
            </a:pPr>
            <a:r>
              <a:rPr lang="en-GB" b="1" dirty="0"/>
              <a:t>Conclusion</a:t>
            </a:r>
            <a:r>
              <a:rPr lang="en-GB" dirty="0"/>
              <a:t>: High operational benefit and manageable training requirements hence operationally feasible.</a:t>
            </a:r>
          </a:p>
          <a:p>
            <a:endParaRPr lang="en-US" dirty="0"/>
          </a:p>
          <a:p>
            <a:endParaRPr lang="en-US" dirty="0"/>
          </a:p>
        </p:txBody>
      </p:sp>
    </p:spTree>
    <p:extLst>
      <p:ext uri="{BB962C8B-B14F-4D97-AF65-F5344CB8AC3E}">
        <p14:creationId xmlns:p14="http://schemas.microsoft.com/office/powerpoint/2010/main" val="28499888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C0A19-E73A-BCB6-C2F8-66FEEAE482EB}"/>
              </a:ext>
            </a:extLst>
          </p:cNvPr>
          <p:cNvSpPr>
            <a:spLocks noGrp="1"/>
          </p:cNvSpPr>
          <p:nvPr>
            <p:ph type="title"/>
          </p:nvPr>
        </p:nvSpPr>
        <p:spPr/>
        <p:txBody>
          <a:bodyPr/>
          <a:lstStyle/>
          <a:p>
            <a:r>
              <a:rPr lang="en-US" dirty="0"/>
              <a:t>CONTINUATION OF FEASIBILITY STUDY</a:t>
            </a:r>
          </a:p>
        </p:txBody>
      </p:sp>
      <p:sp>
        <p:nvSpPr>
          <p:cNvPr id="3" name="Content Placeholder 2">
            <a:extLst>
              <a:ext uri="{FF2B5EF4-FFF2-40B4-BE49-F238E27FC236}">
                <a16:creationId xmlns:a16="http://schemas.microsoft.com/office/drawing/2014/main" id="{3CCB5900-AB3B-4D02-6487-3CC6344C045E}"/>
              </a:ext>
            </a:extLst>
          </p:cNvPr>
          <p:cNvSpPr>
            <a:spLocks noGrp="1"/>
          </p:cNvSpPr>
          <p:nvPr>
            <p:ph idx="1"/>
          </p:nvPr>
        </p:nvSpPr>
        <p:spPr/>
        <p:txBody>
          <a:bodyPr>
            <a:normAutofit/>
          </a:bodyPr>
          <a:lstStyle/>
          <a:p>
            <a:r>
              <a:rPr lang="en-GB" b="1" dirty="0"/>
              <a:t>Operational Feasibility</a:t>
            </a:r>
          </a:p>
          <a:p>
            <a:pPr>
              <a:buFont typeface="Arial" panose="020B0604020202020204" pitchFamily="34" charset="0"/>
              <a:buChar char="•"/>
            </a:pPr>
            <a:r>
              <a:rPr lang="en-GB" dirty="0"/>
              <a:t>Staff will be able to use it easily</a:t>
            </a:r>
          </a:p>
          <a:p>
            <a:pPr>
              <a:buFont typeface="Arial" panose="020B0604020202020204" pitchFamily="34" charset="0"/>
              <a:buChar char="•"/>
            </a:pPr>
            <a:r>
              <a:rPr lang="en-GB" dirty="0"/>
              <a:t>Order mistakes will be reduced</a:t>
            </a:r>
          </a:p>
          <a:p>
            <a:pPr>
              <a:buFont typeface="Arial" panose="020B0604020202020204" pitchFamily="34" charset="0"/>
              <a:buChar char="•"/>
            </a:pPr>
            <a:r>
              <a:rPr lang="en-GB" dirty="0"/>
              <a:t>Service speed will be improved</a:t>
            </a:r>
          </a:p>
          <a:p>
            <a:pPr marL="0" indent="0">
              <a:buNone/>
            </a:pPr>
            <a:r>
              <a:rPr lang="en-GB" b="1" dirty="0"/>
              <a:t>Conclusion</a:t>
            </a:r>
            <a:r>
              <a:rPr lang="en-GB" dirty="0"/>
              <a:t>: The system improves workflow and staff can adapt.</a:t>
            </a:r>
            <a:endParaRPr lang="en-US" dirty="0"/>
          </a:p>
        </p:txBody>
      </p:sp>
    </p:spTree>
    <p:extLst>
      <p:ext uri="{BB962C8B-B14F-4D97-AF65-F5344CB8AC3E}">
        <p14:creationId xmlns:p14="http://schemas.microsoft.com/office/powerpoint/2010/main" val="40660187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9FCA0-6A4E-E35E-804D-0034FE974CDD}"/>
              </a:ext>
            </a:extLst>
          </p:cNvPr>
          <p:cNvSpPr>
            <a:spLocks noGrp="1"/>
          </p:cNvSpPr>
          <p:nvPr>
            <p:ph type="title"/>
          </p:nvPr>
        </p:nvSpPr>
        <p:spPr/>
        <p:txBody>
          <a:bodyPr/>
          <a:lstStyle/>
          <a:p>
            <a:r>
              <a:rPr lang="en-US" dirty="0"/>
              <a:t>CONTINUITION OF FEASIBILITY STUDY</a:t>
            </a:r>
          </a:p>
        </p:txBody>
      </p:sp>
      <p:sp>
        <p:nvSpPr>
          <p:cNvPr id="3" name="Content Placeholder 2">
            <a:extLst>
              <a:ext uri="{FF2B5EF4-FFF2-40B4-BE49-F238E27FC236}">
                <a16:creationId xmlns:a16="http://schemas.microsoft.com/office/drawing/2014/main" id="{0107B8D5-2C60-F863-C1E4-E7AB24CD29C6}"/>
              </a:ext>
            </a:extLst>
          </p:cNvPr>
          <p:cNvSpPr>
            <a:spLocks noGrp="1"/>
          </p:cNvSpPr>
          <p:nvPr>
            <p:ph idx="1"/>
          </p:nvPr>
        </p:nvSpPr>
        <p:spPr/>
        <p:txBody>
          <a:bodyPr/>
          <a:lstStyle/>
          <a:p>
            <a:r>
              <a:rPr lang="en-GB" b="1" dirty="0"/>
              <a:t>Legal &amp; Compliance Feasibility</a:t>
            </a:r>
          </a:p>
          <a:p>
            <a:pPr>
              <a:buFont typeface="Arial" panose="020B0604020202020204" pitchFamily="34" charset="0"/>
              <a:buChar char="•"/>
            </a:pPr>
            <a:r>
              <a:rPr lang="en-GB" dirty="0"/>
              <a:t>PCI-DSS compliance for card payments</a:t>
            </a:r>
          </a:p>
          <a:p>
            <a:pPr>
              <a:buFont typeface="Arial" panose="020B0604020202020204" pitchFamily="34" charset="0"/>
              <a:buChar char="•"/>
            </a:pPr>
            <a:r>
              <a:rPr lang="en-GB" dirty="0"/>
              <a:t>Data privacy compliance (customer data)</a:t>
            </a:r>
          </a:p>
          <a:p>
            <a:pPr>
              <a:buFont typeface="Arial" panose="020B0604020202020204" pitchFamily="34" charset="0"/>
              <a:buChar char="•"/>
            </a:pPr>
            <a:r>
              <a:rPr lang="en-GB" dirty="0"/>
              <a:t>Tax reporting compliance</a:t>
            </a:r>
          </a:p>
          <a:p>
            <a:pPr marL="0" indent="0">
              <a:buNone/>
            </a:pPr>
            <a:r>
              <a:rPr lang="en-GB" b="1" dirty="0"/>
              <a:t>Conclusion:</a:t>
            </a:r>
            <a:r>
              <a:rPr lang="en-GB" dirty="0"/>
              <a:t> Feasible if compliant POS provider is selected.</a:t>
            </a:r>
          </a:p>
          <a:p>
            <a:endParaRPr lang="en-US" dirty="0"/>
          </a:p>
        </p:txBody>
      </p:sp>
    </p:spTree>
    <p:extLst>
      <p:ext uri="{BB962C8B-B14F-4D97-AF65-F5344CB8AC3E}">
        <p14:creationId xmlns:p14="http://schemas.microsoft.com/office/powerpoint/2010/main" val="3499488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ITERATION PLAN</a:t>
            </a:r>
          </a:p>
        </p:txBody>
      </p:sp>
      <p:sp>
        <p:nvSpPr>
          <p:cNvPr id="3" name="Content Placeholder 2"/>
          <p:cNvSpPr>
            <a:spLocks noGrp="1"/>
          </p:cNvSpPr>
          <p:nvPr>
            <p:ph idx="1"/>
          </p:nvPr>
        </p:nvSpPr>
        <p:spPr/>
        <p:txBody>
          <a:bodyPr>
            <a:normAutofit fontScale="92500" lnSpcReduction="20000"/>
          </a:bodyPr>
          <a:lstStyle/>
          <a:p>
            <a:r>
              <a:rPr dirty="0"/>
              <a:t>Inception</a:t>
            </a:r>
            <a:endParaRPr lang="en-US" dirty="0"/>
          </a:p>
          <a:p>
            <a:pPr>
              <a:buFont typeface="Wingdings" panose="05000000000000000000" pitchFamily="2" charset="2"/>
              <a:buChar char="§"/>
            </a:pPr>
            <a:r>
              <a:rPr lang="en-US" dirty="0"/>
              <a:t>Vision and Feasibility</a:t>
            </a:r>
            <a:endParaRPr dirty="0"/>
          </a:p>
          <a:p>
            <a:r>
              <a:rPr dirty="0"/>
              <a:t>Elaboration</a:t>
            </a:r>
            <a:endParaRPr lang="en-US" dirty="0"/>
          </a:p>
          <a:p>
            <a:pPr>
              <a:buFont typeface="Wingdings" panose="05000000000000000000" pitchFamily="2" charset="2"/>
              <a:buChar char="§"/>
            </a:pPr>
            <a:r>
              <a:rPr lang="en-US" dirty="0"/>
              <a:t>Iteration 1- Core Architecture and Requirements</a:t>
            </a:r>
          </a:p>
          <a:p>
            <a:pPr>
              <a:buFont typeface="Wingdings" panose="05000000000000000000" pitchFamily="2" charset="2"/>
              <a:buChar char="§"/>
            </a:pPr>
            <a:r>
              <a:rPr lang="en-US" dirty="0"/>
              <a:t>Iteration 2- Risk- Driven Design</a:t>
            </a:r>
          </a:p>
          <a:p>
            <a:pPr>
              <a:buFont typeface="Wingdings" panose="05000000000000000000" pitchFamily="2" charset="2"/>
              <a:buChar char="§"/>
            </a:pPr>
            <a:r>
              <a:rPr lang="en-US" dirty="0"/>
              <a:t>Partial implementation of the create food order use case</a:t>
            </a:r>
            <a:endParaRPr dirty="0"/>
          </a:p>
          <a:p>
            <a:r>
              <a:rPr dirty="0"/>
              <a:t>Construction</a:t>
            </a:r>
            <a:r>
              <a:rPr lang="en-US" dirty="0"/>
              <a:t> </a:t>
            </a:r>
          </a:p>
          <a:p>
            <a:pPr>
              <a:buFont typeface="Wingdings" panose="05000000000000000000" pitchFamily="2" charset="2"/>
              <a:buChar char="§"/>
            </a:pPr>
            <a:r>
              <a:rPr lang="en-US" dirty="0"/>
              <a:t>Iteration 1:Feature Implementation</a:t>
            </a:r>
          </a:p>
          <a:p>
            <a:pPr>
              <a:buFont typeface="Wingdings" panose="05000000000000000000" pitchFamily="2" charset="2"/>
              <a:buChar char="§"/>
            </a:pPr>
            <a:r>
              <a:rPr lang="en-US" dirty="0"/>
              <a:t>Iteration 2: Polishing and Deployment Preparations</a:t>
            </a:r>
            <a:endParaRPr dirty="0"/>
          </a:p>
          <a:p>
            <a:r>
              <a:rPr dirty="0"/>
              <a:t>Transition</a:t>
            </a:r>
            <a:endParaRPr lang="en-US" dirty="0"/>
          </a:p>
          <a:p>
            <a:pPr>
              <a:buFont typeface="Wingdings" panose="05000000000000000000" pitchFamily="2" charset="2"/>
              <a:buChar char="§"/>
            </a:pPr>
            <a:r>
              <a:rPr lang="en-US" dirty="0"/>
              <a:t>Demonstration</a:t>
            </a:r>
          </a:p>
          <a:p>
            <a:pPr marL="0" indent="0">
              <a:buNone/>
            </a:pPr>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D0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844</TotalTime>
  <Words>781</Words>
  <Application>Microsoft Office PowerPoint</Application>
  <PresentationFormat>On-screen Show (4:3)</PresentationFormat>
  <Paragraphs>144</Paragraphs>
  <Slides>12</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Century Gothic</vt:lpstr>
      <vt:lpstr>Wingdings</vt:lpstr>
      <vt:lpstr>Wingdings 3</vt:lpstr>
      <vt:lpstr>Ion</vt:lpstr>
      <vt:lpstr>CAFE POINT OF SALE SYSTEM     INCEPTION PHASE  </vt:lpstr>
      <vt:lpstr>PROBLEM STATEMENT</vt:lpstr>
      <vt:lpstr>BUSINESS CASE</vt:lpstr>
      <vt:lpstr>HIGH-LEVEL REQUIREMENTS</vt:lpstr>
      <vt:lpstr>CONTINUATION OF HIGH-LEVEL REQUIREMENTS</vt:lpstr>
      <vt:lpstr>USE CASES (10%)</vt:lpstr>
      <vt:lpstr>RISKS LIST &amp; FEASIBILITY STUDY</vt:lpstr>
      <vt:lpstr>FEASIBILITY STUDY</vt:lpstr>
      <vt:lpstr>CONTINUATION OF FEASIBILITY STUDY</vt:lpstr>
      <vt:lpstr>CONTINUATION OF FEASIBILITY STUDY</vt:lpstr>
      <vt:lpstr>CONTINUITION OF FEASIBILITY STUDY</vt:lpstr>
      <vt:lpstr>ITERATION PLAN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CAFE POS SYSTEM   Inception Phase Group 10</dc:title>
  <dc:subject/>
  <dc:creator>Taonga_ C_ Chisi</dc:creator>
  <cp:keywords/>
  <dc:description>generated using python-pptx</dc:description>
  <cp:lastModifiedBy>Taonga_ C_ Chisi</cp:lastModifiedBy>
  <cp:revision>22</cp:revision>
  <dcterms:created xsi:type="dcterms:W3CDTF">2013-01-27T09:14:16Z</dcterms:created>
  <dcterms:modified xsi:type="dcterms:W3CDTF">2026-02-26T11:28:37Z</dcterms:modified>
  <cp:category/>
</cp:coreProperties>
</file>